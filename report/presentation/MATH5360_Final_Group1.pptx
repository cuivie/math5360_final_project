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305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22" r:id="rId11"/>
    <p:sldId id="257" r:id="rId12"/>
    <p:sldId id="258" r:id="rId13"/>
    <p:sldId id="302" r:id="rId14"/>
    <p:sldId id="259" r:id="rId15"/>
    <p:sldId id="297" r:id="rId16"/>
    <p:sldId id="296" r:id="rId17"/>
    <p:sldId id="295" r:id="rId18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38" r:id="rId40"/>
    <p:sldId id="339" r:id="rId41"/>
    <p:sldId id="340" r:id="rId42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E1"/>
    <a:srgbClr val="4F80BC"/>
    <a:srgbClr val="4F81BD"/>
    <a:srgbClr val="00355F"/>
    <a:srgbClr val="141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E7F30-094B-8149-9BE1-FDECE5D539B9}" v="192" dt="2026-05-02T01:26:01.389"/>
    <p1510:client id="{0B341A64-7510-58B5-D668-9AAA62E78EE5}" v="25" dt="2026-05-01T03:12:13.244"/>
    <p1510:client id="{31845AB5-1280-E41B-336A-C02B84376041}" v="682" dt="2026-05-01T21:45:32.123"/>
    <p1510:client id="{51D0183A-D931-0647-949A-BDD295B8959E}" v="992" dt="2026-05-01T19:56:56.183"/>
    <p1510:client id="{6861E1AD-1790-4B14-373D-9F905F765CD8}" v="38" dt="2026-05-02T01:25:57.101"/>
    <p1510:client id="{71CC6BDD-952B-1F09-83D7-4534C0266574}" v="59" dt="2026-05-02T01:04:51.083"/>
    <p1510:client id="{9123FAFC-1561-3FFA-AA1A-7038A1B8BB69}" v="214" dt="2026-05-01T23:10:42.748"/>
    <p1510:client id="{A7A6C951-1893-8BD7-8E8D-A49E0186FB47}" v="318" dt="2026-05-01T18:53:00.0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65"/>
    <p:restoredTop sz="94746"/>
  </p:normalViewPr>
  <p:slideViewPr>
    <p:cSldViewPr>
      <p:cViewPr>
        <p:scale>
          <a:sx n="107" d="100"/>
          <a:sy n="107" d="100"/>
        </p:scale>
        <p:origin x="144" y="19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46C2E-C19A-4015-83F2-888C72FFC414}" type="datetimeFigureOut">
              <a:t>4/30/26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C89DA-D227-4FEC-9797-63B7BAC885E0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5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C89DA-D227-4FEC-9797-63B7BAC885E0}" type="slidenum">
              <a:rPr lang="en-AU" smtClean="0"/>
              <a:t>9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23086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4656" y="1920062"/>
            <a:ext cx="3603625" cy="190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1752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15873" y="800862"/>
            <a:ext cx="8915400" cy="0"/>
          </a:xfrm>
          <a:custGeom>
            <a:avLst/>
            <a:gdLst/>
            <a:ahLst/>
            <a:cxnLst/>
            <a:rect l="l" t="t" r="r" b="b"/>
            <a:pathLst>
              <a:path w="8915400">
                <a:moveTo>
                  <a:pt x="0" y="0"/>
                </a:moveTo>
                <a:lnTo>
                  <a:pt x="8915400" y="0"/>
                </a:lnTo>
              </a:path>
            </a:pathLst>
          </a:custGeom>
          <a:ln w="19050">
            <a:solidFill>
              <a:srgbClr val="0035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1" y="6340602"/>
            <a:ext cx="9906000" cy="0"/>
          </a:xfrm>
          <a:custGeom>
            <a:avLst/>
            <a:gdLst/>
            <a:ahLst/>
            <a:cxnLst/>
            <a:rect l="l" t="t" r="r" b="b"/>
            <a:pathLst>
              <a:path w="9906000">
                <a:moveTo>
                  <a:pt x="0" y="0"/>
                </a:moveTo>
                <a:lnTo>
                  <a:pt x="9906000" y="0"/>
                </a:lnTo>
              </a:path>
            </a:pathLst>
          </a:custGeom>
          <a:ln w="19050">
            <a:solidFill>
              <a:srgbClr val="0035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3242" y="243078"/>
            <a:ext cx="8039734" cy="5063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250" y="2062479"/>
            <a:ext cx="6449059" cy="384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1026" name="Picture 2" descr="Columbia University Mathematics of Finance (MAFN) - EventBrowse.com">
            <a:extLst>
              <a:ext uri="{FF2B5EF4-FFF2-40B4-BE49-F238E27FC236}">
                <a16:creationId xmlns:a16="http://schemas.microsoft.com/office/drawing/2014/main" id="{F6A80823-4ADB-ACCD-4909-A207B1AE98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377940"/>
            <a:ext cx="1238734" cy="41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Sydney | Book flights from London to Sydney | Thai Airwa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7620" y="50"/>
            <a:ext cx="6088380" cy="685794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02296" y="0"/>
            <a:ext cx="4052570" cy="6858000"/>
          </a:xfrm>
          <a:custGeom>
            <a:avLst/>
            <a:gdLst/>
            <a:ahLst/>
            <a:cxnLst/>
            <a:rect l="l" t="t" r="r" b="b"/>
            <a:pathLst>
              <a:path w="4052570" h="6858000">
                <a:moveTo>
                  <a:pt x="4052182" y="0"/>
                </a:moveTo>
                <a:lnTo>
                  <a:pt x="0" y="0"/>
                </a:lnTo>
                <a:lnTo>
                  <a:pt x="587344" y="6858000"/>
                </a:lnTo>
                <a:lnTo>
                  <a:pt x="629230" y="6858000"/>
                </a:lnTo>
                <a:lnTo>
                  <a:pt x="4052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xfrm>
            <a:off x="756947" y="2177507"/>
            <a:ext cx="4701744" cy="1577227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35"/>
              </a:spcBef>
            </a:pPr>
            <a:r>
              <a:rPr lang="en-AU" sz="3600" dirty="0">
                <a:solidFill>
                  <a:srgbClr val="00355F"/>
                </a:solidFill>
              </a:rPr>
              <a:t>MATH GR 5360: </a:t>
            </a:r>
            <a:br>
              <a:rPr lang="en-AU" sz="3600" dirty="0">
                <a:solidFill>
                  <a:srgbClr val="00355F"/>
                </a:solidFill>
              </a:rPr>
            </a:br>
            <a:r>
              <a:rPr lang="en-AU" sz="3600" dirty="0">
                <a:solidFill>
                  <a:srgbClr val="00355F"/>
                </a:solidFill>
              </a:rPr>
              <a:t>Trend-Following Across Markets</a:t>
            </a:r>
            <a:endParaRPr sz="3600" dirty="0">
              <a:solidFill>
                <a:srgbClr val="00355F"/>
              </a:solidFill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2739" y="-14287"/>
            <a:ext cx="4401820" cy="6886575"/>
            <a:chOff x="2872739" y="-14287"/>
            <a:chExt cx="4401820" cy="68865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2739" y="4137659"/>
              <a:ext cx="944880" cy="6141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34368" y="0"/>
              <a:ext cx="3425825" cy="6858000"/>
            </a:xfrm>
            <a:custGeom>
              <a:avLst/>
              <a:gdLst/>
              <a:ahLst/>
              <a:cxnLst/>
              <a:rect l="l" t="t" r="r" b="b"/>
              <a:pathLst>
                <a:path w="3425825" h="6858000">
                  <a:moveTo>
                    <a:pt x="0" y="6858000"/>
                  </a:moveTo>
                  <a:lnTo>
                    <a:pt x="3425317" y="0"/>
                  </a:lnTo>
                </a:path>
              </a:pathLst>
            </a:custGeom>
            <a:ln w="28575">
              <a:solidFill>
                <a:srgbClr val="0035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50" name="Picture 2" descr="Columbia University Mathematics of Finance (MAFN) - EventBrowse.com">
            <a:extLst>
              <a:ext uri="{FF2B5EF4-FFF2-40B4-BE49-F238E27FC236}">
                <a16:creationId xmlns:a16="http://schemas.microsoft.com/office/drawing/2014/main" id="{0D8873C1-4FF1-4DE7-2E1F-B767359AE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47" y="3882376"/>
            <a:ext cx="3324653" cy="112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EF3D6E-1F88-81E6-6F12-E73999C2855B}"/>
              </a:ext>
            </a:extLst>
          </p:cNvPr>
          <p:cNvSpPr txBox="1"/>
          <p:nvPr/>
        </p:nvSpPr>
        <p:spPr>
          <a:xfrm>
            <a:off x="743092" y="5007111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of Horizon-Specific Trend Inefficiencies</a:t>
            </a:r>
            <a:endParaRPr lang="en-US" sz="1800" dirty="0">
              <a:solidFill>
                <a:srgbClr val="00355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形用户界面, 图表&#10;&#10;AI 生成的内容可能不正确。">
            <a:extLst>
              <a:ext uri="{FF2B5EF4-FFF2-40B4-BE49-F238E27FC236}">
                <a16:creationId xmlns:a16="http://schemas.microsoft.com/office/drawing/2014/main" id="{48BF674F-1948-1872-C2E0-A7C159D6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2" y="289838"/>
            <a:ext cx="9907964" cy="592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0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ABC06-E595-0EE8-6A50-23728D139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2" y="243078"/>
            <a:ext cx="8039734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CN" sz="2400">
                <a:ea typeface="宋体"/>
              </a:rPr>
              <a:t>10 year treasur</a:t>
            </a:r>
            <a:r>
              <a:rPr lang="en-US" altLang="zh-CN" sz="2400">
                <a:ea typeface="宋体"/>
              </a:rPr>
              <a:t>y</a:t>
            </a:r>
            <a:r>
              <a:rPr lang="zh-CN" sz="2400">
                <a:ea typeface="宋体"/>
              </a:rPr>
              <a:t> note </a:t>
            </a:r>
            <a:r>
              <a:rPr lang="en-US" altLang="zh-CN" sz="2400">
                <a:ea typeface="宋体"/>
              </a:rPr>
              <a:t>future</a:t>
            </a:r>
            <a:r>
              <a:rPr lang="zh-CN" sz="2400" err="1">
                <a:ea typeface="宋体"/>
              </a:rPr>
              <a:t>(TY)</a:t>
            </a:r>
            <a:endParaRPr lang="zh-CN" sz="2400">
              <a:ea typeface="宋体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68660A-1679-F81B-B14C-11191092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583" y="1184786"/>
            <a:ext cx="7228672" cy="4678204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2800">
                <a:ea typeface="宋体"/>
                <a:cs typeface="Calibri"/>
              </a:rPr>
              <a:t>Is there trend-following or mean-reversion? </a:t>
            </a:r>
            <a:endParaRPr lang="zh-CN" sz="2800">
              <a:ea typeface="宋体"/>
              <a:cs typeface="Calibri"/>
            </a:endParaRPr>
          </a:p>
          <a:p>
            <a:r>
              <a:rPr lang="zh-CN" altLang="en-US" sz="2800">
                <a:ea typeface="宋体"/>
                <a:cs typeface="Calibri"/>
              </a:rPr>
              <a:t>How can we identify that?</a:t>
            </a:r>
          </a:p>
          <a:p>
            <a:pPr marL="342900" indent="-342900">
              <a:buFont typeface="Arial"/>
              <a:buChar char="•"/>
            </a:pPr>
            <a:endParaRPr lang="zh-CN" altLang="en-US" sz="2800">
              <a:ea typeface="宋体"/>
              <a:cs typeface="Calibri"/>
            </a:endParaRPr>
          </a:p>
          <a:p>
            <a:r>
              <a:rPr lang="zh-CN" altLang="en-US" sz="2800">
                <a:ea typeface="宋体"/>
                <a:cs typeface="Calibri"/>
              </a:rPr>
              <a:t>We have the high frequcy data from 1983-2026, we can perform：</a:t>
            </a:r>
          </a:p>
          <a:p>
            <a:endParaRPr lang="zh-CN" altLang="en-US" sz="2800">
              <a:ea typeface="宋体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zh-CN" altLang="en-US" sz="2800">
                <a:ea typeface="宋体"/>
                <a:cs typeface="Calibri"/>
              </a:rPr>
              <a:t>Push response test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2800">
                <a:ea typeface="宋体"/>
                <a:cs typeface="Calibri"/>
              </a:rPr>
              <a:t>Variance ratio test</a:t>
            </a:r>
          </a:p>
          <a:p>
            <a:pPr marL="342900" indent="-342900">
              <a:buFont typeface="Arial"/>
              <a:buChar char="•"/>
            </a:pPr>
            <a:endParaRPr lang="zh-CN" altLang="en-US" sz="2800">
              <a:ea typeface="宋体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zh-CN" altLang="en-US" sz="2800">
                <a:ea typeface="宋体"/>
                <a:cs typeface="Calibri"/>
              </a:rPr>
              <a:t>Are there some other tools or metrics help us?</a:t>
            </a:r>
          </a:p>
          <a:p>
            <a:endParaRPr lang="zh-CN" altLang="en-US" sz="2400">
              <a:ea typeface="宋体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612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CED78-532C-BD98-C941-766F3A81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2" y="243078"/>
            <a:ext cx="8039734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CN" sz="2400">
                <a:ea typeface="宋体"/>
              </a:rPr>
              <a:t>10 year treasur</a:t>
            </a:r>
            <a:r>
              <a:rPr lang="en-US" altLang="zh-CN" sz="2400">
                <a:ea typeface="宋体"/>
              </a:rPr>
              <a:t>y</a:t>
            </a:r>
            <a:r>
              <a:rPr lang="zh-CN" sz="2400">
                <a:ea typeface="宋体"/>
              </a:rPr>
              <a:t> note </a:t>
            </a:r>
            <a:r>
              <a:rPr lang="en-US" altLang="zh-CN" sz="2400">
                <a:ea typeface="宋体"/>
              </a:rPr>
              <a:t>future</a:t>
            </a:r>
            <a:r>
              <a:rPr lang="zh-CN" sz="2400" err="1">
                <a:ea typeface="宋体"/>
              </a:rPr>
              <a:t>(TY)</a:t>
            </a:r>
            <a:endParaRPr lang="zh-CN" sz="2400">
              <a:ea typeface="宋体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18BDBA-F511-250C-A1FE-E4E20D0CB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820" y="608899"/>
            <a:ext cx="9305825" cy="2400657"/>
          </a:xfrm>
        </p:spPr>
        <p:txBody>
          <a:bodyPr wrap="square" lIns="0" tIns="0" rIns="0" bIns="0" anchor="t">
            <a:spAutoFit/>
          </a:bodyPr>
          <a:lstStyle/>
          <a:p>
            <a:endParaRPr lang="en-US" altLang="zh-CN" sz="2800">
              <a:ea typeface="宋体"/>
              <a:cs typeface="Calibri"/>
            </a:endParaRPr>
          </a:p>
          <a:p>
            <a:r>
              <a:rPr lang="en-US" altLang="zh-CN" sz="2800">
                <a:ea typeface="宋体"/>
                <a:cs typeface="Calibri"/>
              </a:rPr>
              <a:t>We have 5 min data, so for a regular trading day, it has 80 bars </a:t>
            </a:r>
          </a:p>
          <a:p>
            <a:pPr marL="457200" indent="-457200">
              <a:buFont typeface="Arial"/>
              <a:buChar char="•"/>
            </a:pPr>
            <a:endParaRPr lang="zh-CN" sz="2800">
              <a:ea typeface="宋体"/>
              <a:cs typeface="Calibri"/>
            </a:endParaRPr>
          </a:p>
          <a:p>
            <a:endParaRPr lang="zh-CN" altLang="en-US" sz="2400">
              <a:ea typeface="宋体"/>
              <a:cs typeface="Calibri"/>
            </a:endParaRPr>
          </a:p>
          <a:p>
            <a:endParaRPr lang="zh-CN" sz="2400">
              <a:ea typeface="宋体"/>
              <a:cs typeface="Calibri"/>
            </a:endParaRPr>
          </a:p>
          <a:p>
            <a:endParaRPr lang="zh-CN" altLang="en-US" sz="2400">
              <a:ea typeface="宋体"/>
              <a:cs typeface="Calibri"/>
            </a:endParaRP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B1AD1AEE-BD78-2BDE-3B28-156D6891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39" y="2022588"/>
            <a:ext cx="7811230" cy="333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8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30C242-94F7-245D-DE16-288D5502B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154" y="1015789"/>
            <a:ext cx="6449059" cy="861774"/>
          </a:xfrm>
        </p:spPr>
        <p:txBody>
          <a:bodyPr wrap="square" lIns="0" tIns="0" rIns="0" bIns="0" anchor="t">
            <a:spAutoFit/>
          </a:bodyPr>
          <a:lstStyle/>
          <a:p>
            <a:endParaRPr lang="zh-CN" altLang="en-US" sz="2800">
              <a:ea typeface="宋体"/>
              <a:cs typeface="Calibri"/>
            </a:endParaRPr>
          </a:p>
          <a:p>
            <a:endParaRPr lang="zh-CN" altLang="en-US" sz="2800">
              <a:ea typeface="宋体"/>
              <a:cs typeface="Calibr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57EEE9-8684-83CA-1EF9-614093F0E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538"/>
            <a:ext cx="9913194" cy="61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6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表, 折线图&#10;&#10;AI 生成的内容可能不正确。">
            <a:extLst>
              <a:ext uri="{FF2B5EF4-FFF2-40B4-BE49-F238E27FC236}">
                <a16:creationId xmlns:a16="http://schemas.microsoft.com/office/drawing/2014/main" id="{665727EA-5D02-AF1A-0BD5-B99FC91E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5" y="1415967"/>
            <a:ext cx="9666251" cy="402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27F88-1FAE-E6E1-0112-D88258C0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43" y="275427"/>
            <a:ext cx="803973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2800">
                <a:ea typeface="宋体"/>
              </a:rPr>
              <a:t>Variance Ratio Test</a:t>
            </a:r>
            <a:endParaRPr lang="zh-CN" altLang="en-US" sz="2800"/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DF7055AD-0A33-C9CA-363E-A1CCD04A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2" r="2179" b="1983"/>
          <a:stretch>
            <a:fillRect/>
          </a:stretch>
        </p:blipFill>
        <p:spPr>
          <a:xfrm>
            <a:off x="0" y="314"/>
            <a:ext cx="9697226" cy="640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55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F86C192-E420-F21D-CD4E-BDD9AFFBA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2" r="148" b="-159"/>
          <a:stretch>
            <a:fillRect/>
          </a:stretch>
        </p:blipFill>
        <p:spPr>
          <a:xfrm>
            <a:off x="431055" y="495435"/>
            <a:ext cx="9053000" cy="43027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6524456-05CF-E5EB-309B-245F916C6BB6}"/>
              </a:ext>
            </a:extLst>
          </p:cNvPr>
          <p:cNvSpPr txBox="1"/>
          <p:nvPr/>
        </p:nvSpPr>
        <p:spPr>
          <a:xfrm>
            <a:off x="432117" y="4969347"/>
            <a:ext cx="925811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>
                <a:solidFill>
                  <a:schemeClr val="tx1"/>
                </a:solidFill>
                <a:latin typeface="+mn-lt"/>
                <a:ea typeface="宋体"/>
                <a:cs typeface="Calibri"/>
              </a:rPr>
              <a:t>May be we can say that there is trend following property in medium to long term, depends on the time period we are watching</a:t>
            </a:r>
          </a:p>
        </p:txBody>
      </p:sp>
    </p:spTree>
    <p:extLst>
      <p:ext uri="{BB962C8B-B14F-4D97-AF65-F5344CB8AC3E}">
        <p14:creationId xmlns:p14="http://schemas.microsoft.com/office/powerpoint/2010/main" val="338179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685B6E7A-918C-C52B-1ADE-0C929E6B0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" t="2048"/>
          <a:stretch>
            <a:fillRect/>
          </a:stretch>
        </p:blipFill>
        <p:spPr>
          <a:xfrm>
            <a:off x="99201" y="274280"/>
            <a:ext cx="9804108" cy="47608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67BC358-8DF2-CA09-2A92-41EB840C02A4}"/>
              </a:ext>
            </a:extLst>
          </p:cNvPr>
          <p:cNvSpPr txBox="1"/>
          <p:nvPr/>
        </p:nvSpPr>
        <p:spPr>
          <a:xfrm>
            <a:off x="554153" y="4916644"/>
            <a:ext cx="8866467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>
                <a:solidFill>
                  <a:schemeClr val="tx1"/>
                </a:solidFill>
                <a:latin typeface="+mn-lt"/>
                <a:ea typeface="宋体"/>
                <a:cs typeface="Calibri"/>
              </a:rPr>
              <a:t>What's happening for past 10 years? 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 sz="2800">
                <a:solidFill>
                  <a:schemeClr val="tx1"/>
                </a:solidFill>
                <a:latin typeface="+mn-lt"/>
                <a:ea typeface="宋体"/>
                <a:cs typeface="Calibri"/>
              </a:rPr>
              <a:t>QE, </a:t>
            </a:r>
            <a:r>
              <a:rPr lang="en-US" altLang="zh-CN" sz="2800">
                <a:solidFill>
                  <a:schemeClr val="tx1"/>
                </a:solidFill>
                <a:latin typeface="Calibri"/>
                <a:ea typeface="宋体"/>
                <a:cs typeface="Calibri"/>
              </a:rPr>
              <a:t>ZIRP</a:t>
            </a:r>
            <a:r>
              <a:rPr lang="zh-CN" altLang="en-US" sz="2800">
                <a:solidFill>
                  <a:schemeClr val="tx1"/>
                </a:solidFill>
                <a:latin typeface="+mn-lt"/>
                <a:ea typeface="宋体"/>
                <a:cs typeface="Calibri"/>
              </a:rPr>
              <a:t>,</a:t>
            </a:r>
            <a:r>
              <a:rPr lang="zh-CN" altLang="en-US" sz="2800">
                <a:solidFill>
                  <a:schemeClr val="tx1"/>
                </a:solidFill>
                <a:latin typeface="Calibri"/>
                <a:ea typeface="宋体"/>
                <a:cs typeface="Calibri"/>
              </a:rPr>
              <a:t> rate increasing </a:t>
            </a:r>
            <a:r>
              <a:rPr lang="en-US" altLang="zh-CN" sz="2800" err="1">
                <a:solidFill>
                  <a:schemeClr val="tx1"/>
                </a:solidFill>
                <a:latin typeface="Calibri"/>
                <a:ea typeface="宋体"/>
                <a:cs typeface="Calibri"/>
              </a:rPr>
              <a:t>cycl</a:t>
            </a:r>
            <a:r>
              <a:rPr lang="zh-CN" altLang="en-US" sz="2800">
                <a:solidFill>
                  <a:schemeClr val="tx1"/>
                </a:solidFill>
                <a:latin typeface="Calibri"/>
                <a:ea typeface="宋体"/>
                <a:cs typeface="Calibri"/>
              </a:rPr>
              <a:t>e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 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247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D9A31-EF33-68E5-FA8A-5A0B769D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2" y="243078"/>
            <a:ext cx="8039734" cy="246221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CN" altLang="en-US">
                <a:ea typeface="宋体"/>
              </a:rPr>
              <a:t>BTC future price</a:t>
            </a:r>
            <a:endParaRPr lang="zh-CN" altLang="en-US"/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ED44C646-39C8-1826-2F2F-09641D88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492"/>
            <a:ext cx="9904086" cy="34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23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4">
            <a:extLst>
              <a:ext uri="{FF2B5EF4-FFF2-40B4-BE49-F238E27FC236}">
                <a16:creationId xmlns:a16="http://schemas.microsoft.com/office/drawing/2014/main" id="{453FC0D0-6BA8-940D-9743-F9CC565A332E}"/>
              </a:ext>
            </a:extLst>
          </p:cNvPr>
          <p:cNvSpPr/>
          <p:nvPr/>
        </p:nvSpPr>
        <p:spPr>
          <a:xfrm>
            <a:off x="0" y="5920738"/>
            <a:ext cx="9906000" cy="429757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26546F10-10FC-BA85-4CA8-6D4359D71194}"/>
              </a:ext>
            </a:extLst>
          </p:cNvPr>
          <p:cNvSpPr/>
          <p:nvPr/>
        </p:nvSpPr>
        <p:spPr>
          <a:xfrm>
            <a:off x="137160" y="5920738"/>
            <a:ext cx="9668256" cy="429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Trend-following is real in both markets, but its usable horizon is market-specific. One framework, calibrated to each market's autocorrelation structure.</a:t>
            </a:r>
            <a:endParaRPr lang="en-US" sz="1100" dirty="0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10966A08-9FA9-57E4-A61E-2288F8927257}"/>
              </a:ext>
            </a:extLst>
          </p:cNvPr>
          <p:cNvSpPr/>
          <p:nvPr/>
        </p:nvSpPr>
        <p:spPr>
          <a:xfrm>
            <a:off x="320040" y="1554480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75D22F57-C0C2-F671-407B-BBFD3BFC1447}"/>
              </a:ext>
            </a:extLst>
          </p:cNvPr>
          <p:cNvSpPr/>
          <p:nvPr/>
        </p:nvSpPr>
        <p:spPr>
          <a:xfrm>
            <a:off x="320040" y="1554480"/>
            <a:ext cx="2880360" cy="73152"/>
          </a:xfrm>
          <a:prstGeom prst="rect">
            <a:avLst/>
          </a:prstGeom>
          <a:solidFill>
            <a:srgbClr val="00355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C82CD360-88B6-4EAC-2BD6-DCA7DD4469CD}"/>
              </a:ext>
            </a:extLst>
          </p:cNvPr>
          <p:cNvSpPr/>
          <p:nvPr/>
        </p:nvSpPr>
        <p:spPr>
          <a:xfrm>
            <a:off x="457200" y="1691640"/>
            <a:ext cx="2669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600" dirty="0"/>
          </a:p>
        </p:txBody>
      </p:sp>
      <p:sp>
        <p:nvSpPr>
          <p:cNvPr id="76" name="Shape 12">
            <a:extLst>
              <a:ext uri="{FF2B5EF4-FFF2-40B4-BE49-F238E27FC236}">
                <a16:creationId xmlns:a16="http://schemas.microsoft.com/office/drawing/2014/main" id="{3B3F8F05-FB27-8FF8-9593-28D2A097D8A0}"/>
              </a:ext>
            </a:extLst>
          </p:cNvPr>
          <p:cNvSpPr/>
          <p:nvPr/>
        </p:nvSpPr>
        <p:spPr>
          <a:xfrm>
            <a:off x="457200" y="2240280"/>
            <a:ext cx="2529097" cy="0"/>
          </a:xfrm>
          <a:prstGeom prst="line">
            <a:avLst/>
          </a:prstGeom>
          <a:noFill/>
          <a:ln w="12700">
            <a:solidFill>
              <a:srgbClr val="C4D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6D8B2E2C-AB60-9BA7-F656-DC9DAE2CC3BA}"/>
              </a:ext>
            </a:extLst>
          </p:cNvPr>
          <p:cNvSpPr/>
          <p:nvPr/>
        </p:nvSpPr>
        <p:spPr>
          <a:xfrm>
            <a:off x="457200" y="2331720"/>
            <a:ext cx="266960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(Treasury futures) exhibits weak/mixed trend behavior at short horizons but becomes trend-following at longer horizons. BTC exhibits faster, stronger trend-following — the same Channel WithDDControl framework selects materially shorter optimal channel lengths for BTC.</a:t>
            </a:r>
            <a:endParaRPr lang="en-US" sz="1250" dirty="0"/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1C5F7F9F-EF5A-61D4-A4EE-00EA9F9D65AD}"/>
              </a:ext>
            </a:extLst>
          </p:cNvPr>
          <p:cNvSpPr/>
          <p:nvPr/>
        </p:nvSpPr>
        <p:spPr>
          <a:xfrm>
            <a:off x="3520440" y="1548067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10">
            <a:extLst>
              <a:ext uri="{FF2B5EF4-FFF2-40B4-BE49-F238E27FC236}">
                <a16:creationId xmlns:a16="http://schemas.microsoft.com/office/drawing/2014/main" id="{A379EF20-FE36-589B-6BBC-F493E05E1ED0}"/>
              </a:ext>
            </a:extLst>
          </p:cNvPr>
          <p:cNvSpPr/>
          <p:nvPr/>
        </p:nvSpPr>
        <p:spPr>
          <a:xfrm>
            <a:off x="3520440" y="1548067"/>
            <a:ext cx="2880360" cy="73152"/>
          </a:xfrm>
          <a:prstGeom prst="rect">
            <a:avLst/>
          </a:prstGeom>
          <a:solidFill>
            <a:srgbClr val="00355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355F"/>
              </a:solidFill>
            </a:endParaRPr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095D0D7E-9A8E-8E10-4994-6AC0F2498839}"/>
              </a:ext>
            </a:extLst>
          </p:cNvPr>
          <p:cNvSpPr/>
          <p:nvPr/>
        </p:nvSpPr>
        <p:spPr>
          <a:xfrm>
            <a:off x="3657600" y="1685227"/>
            <a:ext cx="2669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84850298-DA37-1CD3-1E01-FB4EC4C776FA}"/>
              </a:ext>
            </a:extLst>
          </p:cNvPr>
          <p:cNvSpPr/>
          <p:nvPr/>
        </p:nvSpPr>
        <p:spPr>
          <a:xfrm>
            <a:off x="3657600" y="2233867"/>
            <a:ext cx="2529097" cy="0"/>
          </a:xfrm>
          <a:prstGeom prst="line">
            <a:avLst/>
          </a:prstGeom>
          <a:noFill/>
          <a:ln w="12700">
            <a:solidFill>
              <a:srgbClr val="C4D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13">
            <a:extLst>
              <a:ext uri="{FF2B5EF4-FFF2-40B4-BE49-F238E27FC236}">
                <a16:creationId xmlns:a16="http://schemas.microsoft.com/office/drawing/2014/main" id="{1534DDA3-A861-3096-FA55-0265DE33BBE2}"/>
              </a:ext>
            </a:extLst>
          </p:cNvPr>
          <p:cNvSpPr/>
          <p:nvPr/>
        </p:nvSpPr>
        <p:spPr>
          <a:xfrm>
            <a:off x="3657600" y="2325307"/>
            <a:ext cx="266960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Variance Ratio test shows TY is mean-reverting at short scales (q&lt;800 bars) but trend-following beyond ~1,400 bars (~1 month). BTC transitions to trend-following at ~8,300 bars (~29 days). Push-Response test confirms positive slope at longer horizons for both markets.</a:t>
            </a:r>
            <a:endParaRPr lang="zh-CN" altLang="en-US" sz="1300">
              <a:latin typeface="Calibri"/>
              <a:cs typeface="Calibri"/>
            </a:endParaRPr>
          </a:p>
        </p:txBody>
      </p:sp>
      <p:sp>
        <p:nvSpPr>
          <p:cNvPr id="83" name="Shape 9">
            <a:extLst>
              <a:ext uri="{FF2B5EF4-FFF2-40B4-BE49-F238E27FC236}">
                <a16:creationId xmlns:a16="http://schemas.microsoft.com/office/drawing/2014/main" id="{1AAC2BD3-F9E9-054D-70FD-BEF6F5789934}"/>
              </a:ext>
            </a:extLst>
          </p:cNvPr>
          <p:cNvSpPr/>
          <p:nvPr/>
        </p:nvSpPr>
        <p:spPr>
          <a:xfrm>
            <a:off x="6642038" y="1548067"/>
            <a:ext cx="2880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10">
            <a:extLst>
              <a:ext uri="{FF2B5EF4-FFF2-40B4-BE49-F238E27FC236}">
                <a16:creationId xmlns:a16="http://schemas.microsoft.com/office/drawing/2014/main" id="{3A0B5986-FA4F-3175-E049-7EDC7BF887CD}"/>
              </a:ext>
            </a:extLst>
          </p:cNvPr>
          <p:cNvSpPr/>
          <p:nvPr/>
        </p:nvSpPr>
        <p:spPr>
          <a:xfrm>
            <a:off x="6642038" y="1548067"/>
            <a:ext cx="2880360" cy="73152"/>
          </a:xfrm>
          <a:prstGeom prst="rect">
            <a:avLst/>
          </a:prstGeom>
          <a:solidFill>
            <a:srgbClr val="00355F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355F"/>
              </a:solidFill>
            </a:endParaRPr>
          </a:p>
        </p:txBody>
      </p:sp>
      <p:sp>
        <p:nvSpPr>
          <p:cNvPr id="85" name="Text 11">
            <a:extLst>
              <a:ext uri="{FF2B5EF4-FFF2-40B4-BE49-F238E27FC236}">
                <a16:creationId xmlns:a16="http://schemas.microsoft.com/office/drawing/2014/main" id="{AA30ABC3-EB6B-66EF-F36B-0F6C59C630B6}"/>
              </a:ext>
            </a:extLst>
          </p:cNvPr>
          <p:cNvSpPr/>
          <p:nvPr/>
        </p:nvSpPr>
        <p:spPr>
          <a:xfrm>
            <a:off x="6779198" y="1685227"/>
            <a:ext cx="26696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86" name="Shape 12">
            <a:extLst>
              <a:ext uri="{FF2B5EF4-FFF2-40B4-BE49-F238E27FC236}">
                <a16:creationId xmlns:a16="http://schemas.microsoft.com/office/drawing/2014/main" id="{579CFEC6-DC5A-8FA3-6C85-EB7DF83108C1}"/>
              </a:ext>
            </a:extLst>
          </p:cNvPr>
          <p:cNvSpPr/>
          <p:nvPr/>
        </p:nvSpPr>
        <p:spPr>
          <a:xfrm>
            <a:off x="6779198" y="2233867"/>
            <a:ext cx="2529097" cy="0"/>
          </a:xfrm>
          <a:prstGeom prst="line">
            <a:avLst/>
          </a:prstGeom>
          <a:noFill/>
          <a:ln w="12700">
            <a:solidFill>
              <a:srgbClr val="C4D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72B771C5-20E6-8A64-49C1-EB111939883A}"/>
              </a:ext>
            </a:extLst>
          </p:cNvPr>
          <p:cNvSpPr/>
          <p:nvPr/>
        </p:nvSpPr>
        <p:spPr>
          <a:xfrm>
            <a:off x="6779198" y="2325307"/>
            <a:ext cx="266960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TY OOS: Net Profit $47,619, Sharpe 0.228, Win Rate 31.3%, RoA 1.58x. BTC OOS: Net Profit $465,261, Sharpe 2.833, Win Rate 41.4%, RoA 3.31x. BTC shows significantly stronger trend-following signal and better risk-adjusted returns.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07B82E9-7E0A-6B19-6BA2-B10F0F18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2" y="243078"/>
            <a:ext cx="8039734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2000">
                <a:ea typeface="宋体"/>
              </a:rPr>
              <a:t>BTC Future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242" y="822705"/>
            <a:ext cx="8338184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shows weak / mixed short-horizon behavior but becomes a slower trend-following market at longer horizons.</a:t>
            </a:r>
          </a:p>
          <a:p>
            <a:pPr marL="0" indent="0">
              <a:buNone/>
            </a:pPr>
            <a:endParaRPr lang="en-US" sz="1000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shows faster, stronger trend-following — so the same Channel </a:t>
            </a:r>
            <a:r>
              <a:rPr lang="en-US" sz="1000" i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WithDDControl</a:t>
            </a: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 selects materially shorter horizons.</a:t>
            </a:r>
            <a:endParaRPr lang="en-US" sz="1000" i="1" dirty="0">
              <a:solidFill>
                <a:schemeClr val="tx1"/>
              </a:solidFill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3242" y="243078"/>
            <a:ext cx="8039734" cy="480002"/>
          </a:xfrm>
          <a:prstGeom prst="rect">
            <a:avLst/>
          </a:prstGeom>
        </p:spPr>
        <p:txBody>
          <a:bodyPr vert="horz" wrap="square" lIns="0" tIns="231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AU" spc="-10" dirty="0"/>
              <a:t>Central Thesis </a:t>
            </a:r>
            <a:endParaRPr spc="-55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E011F533-FC81-0AF4-F236-669D483EBA8F}"/>
              </a:ext>
            </a:extLst>
          </p:cNvPr>
          <p:cNvSpPr/>
          <p:nvPr/>
        </p:nvSpPr>
        <p:spPr>
          <a:xfrm>
            <a:off x="365760" y="1920240"/>
            <a:ext cx="9235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7728FB2A-F96E-51C8-B8EE-FE59F6BBA402}"/>
              </a:ext>
            </a:extLst>
          </p:cNvPr>
          <p:cNvSpPr/>
          <p:nvPr/>
        </p:nvSpPr>
        <p:spPr>
          <a:xfrm>
            <a:off x="5486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SPECTRUM: Where Each Market Lives</a:t>
            </a:r>
            <a:endParaRPr lang="en-US" sz="1100" dirty="0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7BCD5A9A-ADB3-30B2-E869-4DC9E749EC79}"/>
              </a:ext>
            </a:extLst>
          </p:cNvPr>
          <p:cNvSpPr/>
          <p:nvPr/>
        </p:nvSpPr>
        <p:spPr>
          <a:xfrm>
            <a:off x="457200" y="2423160"/>
            <a:ext cx="2362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65EBC319-850D-2826-7AED-E33174C17D9E}"/>
              </a:ext>
            </a:extLst>
          </p:cNvPr>
          <p:cNvSpPr/>
          <p:nvPr/>
        </p:nvSpPr>
        <p:spPr>
          <a:xfrm>
            <a:off x="45720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Mean-Reverting</a:t>
            </a:r>
            <a:endParaRPr lang="en-US" sz="1100" dirty="0"/>
          </a:p>
        </p:txBody>
      </p:sp>
      <p:sp>
        <p:nvSpPr>
          <p:cNvPr id="55" name="Shape 13">
            <a:extLst>
              <a:ext uri="{FF2B5EF4-FFF2-40B4-BE49-F238E27FC236}">
                <a16:creationId xmlns:a16="http://schemas.microsoft.com/office/drawing/2014/main" id="{3C51B6EF-713A-ACBE-F492-B0F96A222B7C}"/>
              </a:ext>
            </a:extLst>
          </p:cNvPr>
          <p:cNvSpPr/>
          <p:nvPr/>
        </p:nvSpPr>
        <p:spPr>
          <a:xfrm>
            <a:off x="2819400" y="2423160"/>
            <a:ext cx="24384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26C7E9CE-3603-96D3-56D1-6B7495BBEF14}"/>
              </a:ext>
            </a:extLst>
          </p:cNvPr>
          <p:cNvSpPr/>
          <p:nvPr/>
        </p:nvSpPr>
        <p:spPr>
          <a:xfrm>
            <a:off x="2743200" y="244313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/ Ambiguous</a:t>
            </a:r>
            <a:endParaRPr lang="en-US" sz="1100" dirty="0"/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079203FD-B36C-65BD-2485-4043BD11C38D}"/>
              </a:ext>
            </a:extLst>
          </p:cNvPr>
          <p:cNvSpPr/>
          <p:nvPr/>
        </p:nvSpPr>
        <p:spPr>
          <a:xfrm>
            <a:off x="5260428" y="2423160"/>
            <a:ext cx="4188372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C2A4DC9F-3872-664C-CE10-17407E5668A2}"/>
              </a:ext>
            </a:extLst>
          </p:cNvPr>
          <p:cNvSpPr/>
          <p:nvPr/>
        </p:nvSpPr>
        <p:spPr>
          <a:xfrm>
            <a:off x="6400800" y="2423160"/>
            <a:ext cx="313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Trend-Following</a:t>
            </a:r>
            <a:endParaRPr lang="en-US" sz="1100" dirty="0"/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E597CB2C-DB38-1EC4-1F63-A82D9173607D}"/>
              </a:ext>
            </a:extLst>
          </p:cNvPr>
          <p:cNvSpPr/>
          <p:nvPr/>
        </p:nvSpPr>
        <p:spPr>
          <a:xfrm>
            <a:off x="5715000" y="2855661"/>
            <a:ext cx="13716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85CBC9B-B1F0-612B-0999-5E6F7F639B31}"/>
              </a:ext>
            </a:extLst>
          </p:cNvPr>
          <p:cNvSpPr/>
          <p:nvPr/>
        </p:nvSpPr>
        <p:spPr>
          <a:xfrm>
            <a:off x="5715000" y="285566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BTC  L≈288</a:t>
            </a:r>
            <a:endParaRPr lang="en-US" sz="1000" dirty="0"/>
          </a:p>
        </p:txBody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F345C492-0004-6D5C-B48C-D17FB527A838}"/>
              </a:ext>
            </a:extLst>
          </p:cNvPr>
          <p:cNvSpPr/>
          <p:nvPr/>
        </p:nvSpPr>
        <p:spPr>
          <a:xfrm>
            <a:off x="7863840" y="2871885"/>
            <a:ext cx="13716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34189BFB-B362-6A96-A074-B2570A29052C}"/>
              </a:ext>
            </a:extLst>
          </p:cNvPr>
          <p:cNvSpPr/>
          <p:nvPr/>
        </p:nvSpPr>
        <p:spPr>
          <a:xfrm>
            <a:off x="7863840" y="287188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A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TY  L&gt;500</a:t>
            </a:r>
            <a:endParaRPr lang="en-US" sz="10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AE3754B5-52FA-3468-E1B4-EE8543658EB5}"/>
              </a:ext>
            </a:extLst>
          </p:cNvPr>
          <p:cNvSpPr/>
          <p:nvPr/>
        </p:nvSpPr>
        <p:spPr>
          <a:xfrm>
            <a:off x="365760" y="3246120"/>
            <a:ext cx="2834640" cy="3002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705332AE-BEB9-781F-44A6-579B17711A12}"/>
              </a:ext>
            </a:extLst>
          </p:cNvPr>
          <p:cNvSpPr/>
          <p:nvPr/>
        </p:nvSpPr>
        <p:spPr>
          <a:xfrm>
            <a:off x="365760" y="3246120"/>
            <a:ext cx="495233" cy="30022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A9EF3802-728E-B696-F76C-EB043BCF4F3B}"/>
              </a:ext>
            </a:extLst>
          </p:cNvPr>
          <p:cNvSpPr/>
          <p:nvPr/>
        </p:nvSpPr>
        <p:spPr>
          <a:xfrm>
            <a:off x="365760" y="3246120"/>
            <a:ext cx="495233" cy="67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22C71381-F158-6967-6530-8782D3A2A324}"/>
              </a:ext>
            </a:extLst>
          </p:cNvPr>
          <p:cNvSpPr/>
          <p:nvPr/>
        </p:nvSpPr>
        <p:spPr>
          <a:xfrm>
            <a:off x="1005840" y="333756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b="1">
                <a:solidFill>
                  <a:srgbClr val="003087"/>
                </a:solidFill>
                <a:latin typeface="Calibri"/>
                <a:ea typeface="Calibri"/>
                <a:cs typeface="Calibri"/>
              </a:rPr>
              <a:t>TY: Slow Trend-Following</a:t>
            </a:r>
            <a:endParaRPr lang="en-US" altLang="zh-CN" sz="1250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BB24B577-B636-38B4-FDD6-03A107E0F72C}"/>
              </a:ext>
            </a:extLst>
          </p:cNvPr>
          <p:cNvSpPr/>
          <p:nvPr/>
        </p:nvSpPr>
        <p:spPr>
          <a:xfrm>
            <a:off x="1005840" y="3931920"/>
            <a:ext cx="2042160" cy="2179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VR test shows TY is mean-reverting at short horizons (q &lt; 800 bars) and trend-following beyond ~1,400 bars (~1 month)</a:t>
            </a:r>
            <a:endParaRPr lang="zh-CN"/>
          </a:p>
        </p:txBody>
      </p:sp>
      <p:sp>
        <p:nvSpPr>
          <p:cNvPr id="86" name="Shape 21">
            <a:extLst>
              <a:ext uri="{FF2B5EF4-FFF2-40B4-BE49-F238E27FC236}">
                <a16:creationId xmlns:a16="http://schemas.microsoft.com/office/drawing/2014/main" id="{AAC12F04-2BF2-B5C2-466E-D95A3F7AEF98}"/>
              </a:ext>
            </a:extLst>
          </p:cNvPr>
          <p:cNvSpPr/>
          <p:nvPr/>
        </p:nvSpPr>
        <p:spPr>
          <a:xfrm>
            <a:off x="3566160" y="3246120"/>
            <a:ext cx="2834640" cy="3002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Shape 22">
            <a:extLst>
              <a:ext uri="{FF2B5EF4-FFF2-40B4-BE49-F238E27FC236}">
                <a16:creationId xmlns:a16="http://schemas.microsoft.com/office/drawing/2014/main" id="{D60ABFA6-F38C-3A03-8652-D6DC4BA123CD}"/>
              </a:ext>
            </a:extLst>
          </p:cNvPr>
          <p:cNvSpPr/>
          <p:nvPr/>
        </p:nvSpPr>
        <p:spPr>
          <a:xfrm>
            <a:off x="3566160" y="3246120"/>
            <a:ext cx="495233" cy="30022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23">
            <a:extLst>
              <a:ext uri="{FF2B5EF4-FFF2-40B4-BE49-F238E27FC236}">
                <a16:creationId xmlns:a16="http://schemas.microsoft.com/office/drawing/2014/main" id="{A4322D49-7B9F-9FDE-A8E1-B4D0B1BF8FCF}"/>
              </a:ext>
            </a:extLst>
          </p:cNvPr>
          <p:cNvSpPr/>
          <p:nvPr/>
        </p:nvSpPr>
        <p:spPr>
          <a:xfrm>
            <a:off x="3566160" y="3246120"/>
            <a:ext cx="495233" cy="67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9" name="Text 24">
            <a:extLst>
              <a:ext uri="{FF2B5EF4-FFF2-40B4-BE49-F238E27FC236}">
                <a16:creationId xmlns:a16="http://schemas.microsoft.com/office/drawing/2014/main" id="{8CE81038-369B-65EE-E312-F3C6DEADE6C8}"/>
              </a:ext>
            </a:extLst>
          </p:cNvPr>
          <p:cNvSpPr/>
          <p:nvPr/>
        </p:nvSpPr>
        <p:spPr>
          <a:xfrm>
            <a:off x="4206240" y="3337560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b="1">
                <a:solidFill>
                  <a:srgbClr val="003087"/>
                </a:solidFill>
                <a:latin typeface="Calibri"/>
                <a:ea typeface="Calibri"/>
                <a:cs typeface="Calibri"/>
              </a:rPr>
              <a:t>BTC: Fast Trend-Following</a:t>
            </a:r>
            <a:endParaRPr lang="zh-CN"/>
          </a:p>
        </p:txBody>
      </p:sp>
      <p:sp>
        <p:nvSpPr>
          <p:cNvPr id="90" name="Text 25">
            <a:extLst>
              <a:ext uri="{FF2B5EF4-FFF2-40B4-BE49-F238E27FC236}">
                <a16:creationId xmlns:a16="http://schemas.microsoft.com/office/drawing/2014/main" id="{2CCAE27C-5B68-288C-AAD1-2C733F4B2699}"/>
              </a:ext>
            </a:extLst>
          </p:cNvPr>
          <p:cNvSpPr/>
          <p:nvPr/>
        </p:nvSpPr>
        <p:spPr>
          <a:xfrm>
            <a:off x="4206240" y="3931920"/>
            <a:ext cx="2042160" cy="2179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BTC transitions to trend-following at ~8,300 bars (~29 days) — a much shorter absolute horizon than TY due to 24/7 trading</a:t>
            </a:r>
            <a:endParaRPr lang="zh-CN" altLang="en-US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C13C3014-FAA2-7F6C-F6D0-5D8A3BD31E33}"/>
              </a:ext>
            </a:extLst>
          </p:cNvPr>
          <p:cNvSpPr/>
          <p:nvPr/>
        </p:nvSpPr>
        <p:spPr>
          <a:xfrm>
            <a:off x="6766560" y="3247956"/>
            <a:ext cx="2834640" cy="3002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Shape 22">
            <a:extLst>
              <a:ext uri="{FF2B5EF4-FFF2-40B4-BE49-F238E27FC236}">
                <a16:creationId xmlns:a16="http://schemas.microsoft.com/office/drawing/2014/main" id="{CA70CA44-A859-885E-F344-C0DED04E7F64}"/>
              </a:ext>
            </a:extLst>
          </p:cNvPr>
          <p:cNvSpPr/>
          <p:nvPr/>
        </p:nvSpPr>
        <p:spPr>
          <a:xfrm>
            <a:off x="6766560" y="3247956"/>
            <a:ext cx="495233" cy="30022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23">
            <a:extLst>
              <a:ext uri="{FF2B5EF4-FFF2-40B4-BE49-F238E27FC236}">
                <a16:creationId xmlns:a16="http://schemas.microsoft.com/office/drawing/2014/main" id="{0FA0F01A-3736-BC39-CD57-05CAD44E43EC}"/>
              </a:ext>
            </a:extLst>
          </p:cNvPr>
          <p:cNvSpPr/>
          <p:nvPr/>
        </p:nvSpPr>
        <p:spPr>
          <a:xfrm>
            <a:off x="6766560" y="3247956"/>
            <a:ext cx="495233" cy="67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94" name="Text 24">
            <a:extLst>
              <a:ext uri="{FF2B5EF4-FFF2-40B4-BE49-F238E27FC236}">
                <a16:creationId xmlns:a16="http://schemas.microsoft.com/office/drawing/2014/main" id="{4C701AC9-2DD5-04A7-DEE5-BCE72652B8E9}"/>
              </a:ext>
            </a:extLst>
          </p:cNvPr>
          <p:cNvSpPr/>
          <p:nvPr/>
        </p:nvSpPr>
        <p:spPr>
          <a:xfrm>
            <a:off x="7406640" y="3339396"/>
            <a:ext cx="204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b="1">
                <a:solidFill>
                  <a:srgbClr val="003087"/>
                </a:solidFill>
                <a:latin typeface="Calibri"/>
                <a:ea typeface="Calibri"/>
                <a:cs typeface="Calibri"/>
              </a:rPr>
              <a:t>Push-Response Confirmation</a:t>
            </a:r>
            <a:endParaRPr lang="zh-CN" altLang="en-US"/>
          </a:p>
        </p:txBody>
      </p:sp>
      <p:sp>
        <p:nvSpPr>
          <p:cNvPr id="95" name="Text 25">
            <a:extLst>
              <a:ext uri="{FF2B5EF4-FFF2-40B4-BE49-F238E27FC236}">
                <a16:creationId xmlns:a16="http://schemas.microsoft.com/office/drawing/2014/main" id="{2279921D-38A5-A154-8647-F0F47F13D427}"/>
              </a:ext>
            </a:extLst>
          </p:cNvPr>
          <p:cNvSpPr/>
          <p:nvPr/>
        </p:nvSpPr>
        <p:spPr>
          <a:xfrm>
            <a:off x="7406640" y="3933756"/>
            <a:ext cx="2042160" cy="2179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Both markets confirmed by Push-Response test: positive slope at longer τ, negative at short τ — same system, different calibration needed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428" y="860870"/>
            <a:ext cx="9163050" cy="5151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3" name="Text 1"/>
          <p:cNvSpPr/>
          <p:nvPr/>
        </p:nvSpPr>
        <p:spPr>
          <a:xfrm>
            <a:off x="416052" y="860870"/>
            <a:ext cx="9063990" cy="515112"/>
          </a:xfrm>
          <a:prstGeom prst="rect">
            <a:avLst/>
          </a:prstGeom>
          <a:noFill/>
          <a:ln/>
        </p:spPr>
        <p:txBody>
          <a:bodyPr wrap="square" lIns="110067" tIns="110067" rIns="110067" bIns="110067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Markets: Contract Specifications</a:t>
            </a:r>
            <a:endParaRPr lang="en-US" sz="1950"/>
          </a:p>
        </p:txBody>
      </p:sp>
      <p:sp>
        <p:nvSpPr>
          <p:cNvPr id="4" name="Text 2"/>
          <p:cNvSpPr/>
          <p:nvPr/>
        </p:nvSpPr>
        <p:spPr>
          <a:xfrm>
            <a:off x="376428" y="1475042"/>
            <a:ext cx="9163050" cy="3764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8" b="1" i="1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"Same System, Different Inefficiency Time-Scales"</a:t>
            </a:r>
            <a:endParaRPr lang="en-US" sz="1408"/>
          </a:p>
        </p:txBody>
      </p:sp>
      <p:sp>
        <p:nvSpPr>
          <p:cNvPr id="5" name="Shape 3"/>
          <p:cNvSpPr/>
          <p:nvPr/>
        </p:nvSpPr>
        <p:spPr>
          <a:xfrm>
            <a:off x="376428" y="1881188"/>
            <a:ext cx="2080260" cy="36652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6" name="Text 4"/>
          <p:cNvSpPr/>
          <p:nvPr/>
        </p:nvSpPr>
        <p:spPr>
          <a:xfrm>
            <a:off x="376428" y="1881188"/>
            <a:ext cx="2080260" cy="366522"/>
          </a:xfrm>
          <a:prstGeom prst="rect">
            <a:avLst/>
          </a:prstGeom>
          <a:noFill/>
          <a:ln/>
        </p:spPr>
        <p:txBody>
          <a:bodyPr wrap="square" lIns="82550" tIns="82550" rIns="82550" bIns="8255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92"/>
          </a:p>
        </p:txBody>
      </p:sp>
      <p:sp>
        <p:nvSpPr>
          <p:cNvPr id="7" name="Shape 5"/>
          <p:cNvSpPr/>
          <p:nvPr/>
        </p:nvSpPr>
        <p:spPr>
          <a:xfrm>
            <a:off x="2456688" y="1881188"/>
            <a:ext cx="3546348" cy="36652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8" name="Text 6"/>
          <p:cNvSpPr/>
          <p:nvPr/>
        </p:nvSpPr>
        <p:spPr>
          <a:xfrm>
            <a:off x="2456688" y="1881188"/>
            <a:ext cx="3546348" cy="366522"/>
          </a:xfrm>
          <a:prstGeom prst="rect">
            <a:avLst/>
          </a:prstGeom>
          <a:noFill/>
          <a:ln/>
        </p:spPr>
        <p:txBody>
          <a:bodyPr wrap="square" lIns="82550" tIns="82550" rIns="82550" bIns="8255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9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— 10-Year Treasury Note Futures</a:t>
            </a:r>
            <a:endParaRPr lang="en-US" sz="1192"/>
          </a:p>
        </p:txBody>
      </p:sp>
      <p:sp>
        <p:nvSpPr>
          <p:cNvPr id="9" name="Shape 7"/>
          <p:cNvSpPr/>
          <p:nvPr/>
        </p:nvSpPr>
        <p:spPr>
          <a:xfrm>
            <a:off x="6003036" y="1881188"/>
            <a:ext cx="3536442" cy="36652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10" name="Text 8"/>
          <p:cNvSpPr/>
          <p:nvPr/>
        </p:nvSpPr>
        <p:spPr>
          <a:xfrm>
            <a:off x="6003036" y="1881188"/>
            <a:ext cx="3536442" cy="366522"/>
          </a:xfrm>
          <a:prstGeom prst="rect">
            <a:avLst/>
          </a:prstGeom>
          <a:noFill/>
          <a:ln/>
        </p:spPr>
        <p:txBody>
          <a:bodyPr wrap="square" lIns="82550" tIns="82550" rIns="82550" bIns="8255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9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— CME Bitcoin Futures</a:t>
            </a:r>
            <a:endParaRPr lang="en-US" sz="1192"/>
          </a:p>
        </p:txBody>
      </p:sp>
      <p:sp>
        <p:nvSpPr>
          <p:cNvPr id="11" name="Shape 9"/>
          <p:cNvSpPr/>
          <p:nvPr/>
        </p:nvSpPr>
        <p:spPr>
          <a:xfrm>
            <a:off x="376428" y="2247710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12" name="Text 10"/>
          <p:cNvSpPr/>
          <p:nvPr/>
        </p:nvSpPr>
        <p:spPr>
          <a:xfrm>
            <a:off x="376428" y="2247710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137"/>
          </a:p>
        </p:txBody>
      </p:sp>
      <p:sp>
        <p:nvSpPr>
          <p:cNvPr id="13" name="Shape 11"/>
          <p:cNvSpPr/>
          <p:nvPr/>
        </p:nvSpPr>
        <p:spPr>
          <a:xfrm>
            <a:off x="2456688" y="2247710"/>
            <a:ext cx="3546348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14" name="Text 12"/>
          <p:cNvSpPr/>
          <p:nvPr/>
        </p:nvSpPr>
        <p:spPr>
          <a:xfrm>
            <a:off x="2456688" y="2247710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CBOT-CME</a:t>
            </a:r>
            <a:endParaRPr lang="en-US" sz="1137"/>
          </a:p>
        </p:txBody>
      </p:sp>
      <p:sp>
        <p:nvSpPr>
          <p:cNvPr id="15" name="Shape 13"/>
          <p:cNvSpPr/>
          <p:nvPr/>
        </p:nvSpPr>
        <p:spPr>
          <a:xfrm>
            <a:off x="6003036" y="2247710"/>
            <a:ext cx="3536442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16" name="Text 14"/>
          <p:cNvSpPr/>
          <p:nvPr/>
        </p:nvSpPr>
        <p:spPr>
          <a:xfrm>
            <a:off x="6003036" y="2247710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CME-Chicago Mercantile Exchange</a:t>
            </a:r>
            <a:endParaRPr lang="en-US" sz="1137"/>
          </a:p>
        </p:txBody>
      </p:sp>
      <p:sp>
        <p:nvSpPr>
          <p:cNvPr id="17" name="Shape 15"/>
          <p:cNvSpPr/>
          <p:nvPr/>
        </p:nvSpPr>
        <p:spPr>
          <a:xfrm>
            <a:off x="376428" y="2582532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18" name="Text 16"/>
          <p:cNvSpPr/>
          <p:nvPr/>
        </p:nvSpPr>
        <p:spPr>
          <a:xfrm>
            <a:off x="376428" y="2582532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37"/>
          </a:p>
        </p:txBody>
      </p:sp>
      <p:sp>
        <p:nvSpPr>
          <p:cNvPr id="19" name="Shape 17"/>
          <p:cNvSpPr/>
          <p:nvPr/>
        </p:nvSpPr>
        <p:spPr>
          <a:xfrm>
            <a:off x="2456688" y="2582532"/>
            <a:ext cx="3546348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20" name="Text 18"/>
          <p:cNvSpPr/>
          <p:nvPr/>
        </p:nvSpPr>
        <p:spPr>
          <a:xfrm>
            <a:off x="2456688" y="2582532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137"/>
          </a:p>
        </p:txBody>
      </p:sp>
      <p:sp>
        <p:nvSpPr>
          <p:cNvPr id="21" name="Shape 19"/>
          <p:cNvSpPr/>
          <p:nvPr/>
        </p:nvSpPr>
        <p:spPr>
          <a:xfrm>
            <a:off x="6003036" y="2582532"/>
            <a:ext cx="3536442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22" name="Text 20"/>
          <p:cNvSpPr/>
          <p:nvPr/>
        </p:nvSpPr>
        <p:spPr>
          <a:xfrm>
            <a:off x="6003036" y="2582532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137"/>
          </a:p>
        </p:txBody>
      </p:sp>
      <p:sp>
        <p:nvSpPr>
          <p:cNvPr id="23" name="Shape 21"/>
          <p:cNvSpPr/>
          <p:nvPr/>
        </p:nvSpPr>
        <p:spPr>
          <a:xfrm>
            <a:off x="376428" y="2917355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24" name="Text 22"/>
          <p:cNvSpPr/>
          <p:nvPr/>
        </p:nvSpPr>
        <p:spPr>
          <a:xfrm>
            <a:off x="376428" y="2917355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Size</a:t>
            </a:r>
            <a:endParaRPr lang="en-US" sz="1137"/>
          </a:p>
        </p:txBody>
      </p:sp>
      <p:sp>
        <p:nvSpPr>
          <p:cNvPr id="25" name="Shape 23"/>
          <p:cNvSpPr/>
          <p:nvPr/>
        </p:nvSpPr>
        <p:spPr>
          <a:xfrm>
            <a:off x="2456688" y="2917355"/>
            <a:ext cx="3546348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26" name="Text 24"/>
          <p:cNvSpPr/>
          <p:nvPr/>
        </p:nvSpPr>
        <p:spPr>
          <a:xfrm>
            <a:off x="2456688" y="2917355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 face value</a:t>
            </a:r>
            <a:endParaRPr lang="en-US" sz="1137"/>
          </a:p>
        </p:txBody>
      </p:sp>
      <p:sp>
        <p:nvSpPr>
          <p:cNvPr id="27" name="Shape 25"/>
          <p:cNvSpPr/>
          <p:nvPr/>
        </p:nvSpPr>
        <p:spPr>
          <a:xfrm>
            <a:off x="6003036" y="2917355"/>
            <a:ext cx="3536442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28" name="Text 26"/>
          <p:cNvSpPr/>
          <p:nvPr/>
        </p:nvSpPr>
        <p:spPr>
          <a:xfrm>
            <a:off x="6003036" y="2917355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Bitcoin</a:t>
            </a:r>
            <a:endParaRPr lang="en-US" sz="1137"/>
          </a:p>
        </p:txBody>
      </p:sp>
      <p:sp>
        <p:nvSpPr>
          <p:cNvPr id="29" name="Shape 27"/>
          <p:cNvSpPr/>
          <p:nvPr/>
        </p:nvSpPr>
        <p:spPr>
          <a:xfrm>
            <a:off x="376428" y="3252179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30" name="Text 28"/>
          <p:cNvSpPr/>
          <p:nvPr/>
        </p:nvSpPr>
        <p:spPr>
          <a:xfrm>
            <a:off x="376428" y="3252179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Value</a:t>
            </a:r>
            <a:endParaRPr lang="en-US" sz="1137"/>
          </a:p>
        </p:txBody>
      </p:sp>
      <p:sp>
        <p:nvSpPr>
          <p:cNvPr id="31" name="Shape 29"/>
          <p:cNvSpPr/>
          <p:nvPr/>
        </p:nvSpPr>
        <p:spPr>
          <a:xfrm>
            <a:off x="2456688" y="3252179"/>
            <a:ext cx="3546348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32" name="Text 30"/>
          <p:cNvSpPr/>
          <p:nvPr/>
        </p:nvSpPr>
        <p:spPr>
          <a:xfrm>
            <a:off x="2456688" y="3252179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137"/>
          </a:p>
        </p:txBody>
      </p:sp>
      <p:sp>
        <p:nvSpPr>
          <p:cNvPr id="33" name="Shape 31"/>
          <p:cNvSpPr/>
          <p:nvPr/>
        </p:nvSpPr>
        <p:spPr>
          <a:xfrm>
            <a:off x="6003036" y="3252179"/>
            <a:ext cx="3536442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34" name="Text 32"/>
          <p:cNvSpPr/>
          <p:nvPr/>
        </p:nvSpPr>
        <p:spPr>
          <a:xfrm>
            <a:off x="6003036" y="3252179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137"/>
          </a:p>
        </p:txBody>
      </p:sp>
      <p:sp>
        <p:nvSpPr>
          <p:cNvPr id="35" name="Shape 33"/>
          <p:cNvSpPr/>
          <p:nvPr/>
        </p:nvSpPr>
        <p:spPr>
          <a:xfrm>
            <a:off x="376428" y="3587001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36" name="Text 34"/>
          <p:cNvSpPr/>
          <p:nvPr/>
        </p:nvSpPr>
        <p:spPr>
          <a:xfrm>
            <a:off x="376428" y="3587001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Size</a:t>
            </a:r>
            <a:endParaRPr lang="en-US" sz="1137"/>
          </a:p>
        </p:txBody>
      </p:sp>
      <p:sp>
        <p:nvSpPr>
          <p:cNvPr id="37" name="Shape 35"/>
          <p:cNvSpPr/>
          <p:nvPr/>
        </p:nvSpPr>
        <p:spPr>
          <a:xfrm>
            <a:off x="2456688" y="3587001"/>
            <a:ext cx="3546348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38" name="Text 36"/>
          <p:cNvSpPr/>
          <p:nvPr/>
        </p:nvSpPr>
        <p:spPr>
          <a:xfrm>
            <a:off x="2456688" y="3587001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1/64 of a point (0.015625)</a:t>
            </a:r>
            <a:endParaRPr lang="en-US" sz="1137"/>
          </a:p>
        </p:txBody>
      </p:sp>
      <p:sp>
        <p:nvSpPr>
          <p:cNvPr id="39" name="Shape 37"/>
          <p:cNvSpPr/>
          <p:nvPr/>
        </p:nvSpPr>
        <p:spPr>
          <a:xfrm>
            <a:off x="6003036" y="3587001"/>
            <a:ext cx="3536442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40" name="Text 38"/>
          <p:cNvSpPr/>
          <p:nvPr/>
        </p:nvSpPr>
        <p:spPr>
          <a:xfrm>
            <a:off x="6003036" y="3587001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 points</a:t>
            </a:r>
            <a:endParaRPr lang="en-US" sz="1137"/>
          </a:p>
        </p:txBody>
      </p:sp>
      <p:sp>
        <p:nvSpPr>
          <p:cNvPr id="41" name="Shape 39"/>
          <p:cNvSpPr/>
          <p:nvPr/>
        </p:nvSpPr>
        <p:spPr>
          <a:xfrm>
            <a:off x="376428" y="3921824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42" name="Text 40"/>
          <p:cNvSpPr/>
          <p:nvPr/>
        </p:nvSpPr>
        <p:spPr>
          <a:xfrm>
            <a:off x="376428" y="3921824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Value</a:t>
            </a:r>
            <a:endParaRPr lang="en-US" sz="1137"/>
          </a:p>
        </p:txBody>
      </p:sp>
      <p:sp>
        <p:nvSpPr>
          <p:cNvPr id="43" name="Shape 41"/>
          <p:cNvSpPr/>
          <p:nvPr/>
        </p:nvSpPr>
        <p:spPr>
          <a:xfrm>
            <a:off x="2456688" y="3921824"/>
            <a:ext cx="3546348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44" name="Text 42"/>
          <p:cNvSpPr/>
          <p:nvPr/>
        </p:nvSpPr>
        <p:spPr>
          <a:xfrm>
            <a:off x="2456688" y="3921824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$15.625</a:t>
            </a:r>
            <a:endParaRPr lang="en-US" sz="1137"/>
          </a:p>
        </p:txBody>
      </p:sp>
      <p:sp>
        <p:nvSpPr>
          <p:cNvPr id="45" name="Shape 43"/>
          <p:cNvSpPr/>
          <p:nvPr/>
        </p:nvSpPr>
        <p:spPr>
          <a:xfrm>
            <a:off x="6003036" y="3921824"/>
            <a:ext cx="3536442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46" name="Text 44"/>
          <p:cNvSpPr/>
          <p:nvPr/>
        </p:nvSpPr>
        <p:spPr>
          <a:xfrm>
            <a:off x="6003036" y="3921824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</a:t>
            </a:r>
            <a:endParaRPr lang="en-US" sz="1137"/>
          </a:p>
        </p:txBody>
      </p:sp>
      <p:sp>
        <p:nvSpPr>
          <p:cNvPr id="47" name="Shape 45"/>
          <p:cNvSpPr/>
          <p:nvPr/>
        </p:nvSpPr>
        <p:spPr>
          <a:xfrm>
            <a:off x="376428" y="4256646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48" name="Text 46"/>
          <p:cNvSpPr/>
          <p:nvPr/>
        </p:nvSpPr>
        <p:spPr>
          <a:xfrm>
            <a:off x="376428" y="4256646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</a:t>
            </a:r>
            <a:endParaRPr lang="en-US" sz="1137"/>
          </a:p>
        </p:txBody>
      </p:sp>
      <p:sp>
        <p:nvSpPr>
          <p:cNvPr id="49" name="Shape 47"/>
          <p:cNvSpPr/>
          <p:nvPr/>
        </p:nvSpPr>
        <p:spPr>
          <a:xfrm>
            <a:off x="2456688" y="4256646"/>
            <a:ext cx="3546348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50" name="Text 48"/>
          <p:cNvSpPr/>
          <p:nvPr/>
        </p:nvSpPr>
        <p:spPr>
          <a:xfrm>
            <a:off x="2456688" y="4256646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$18.625</a:t>
            </a:r>
            <a:endParaRPr lang="en-US" sz="1137"/>
          </a:p>
        </p:txBody>
      </p:sp>
      <p:sp>
        <p:nvSpPr>
          <p:cNvPr id="51" name="Shape 49"/>
          <p:cNvSpPr/>
          <p:nvPr/>
        </p:nvSpPr>
        <p:spPr>
          <a:xfrm>
            <a:off x="6003036" y="4256646"/>
            <a:ext cx="3536442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52" name="Text 50"/>
          <p:cNvSpPr/>
          <p:nvPr/>
        </p:nvSpPr>
        <p:spPr>
          <a:xfrm>
            <a:off x="6003036" y="4256646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37"/>
          </a:p>
        </p:txBody>
      </p:sp>
      <p:sp>
        <p:nvSpPr>
          <p:cNvPr id="53" name="Shape 51"/>
          <p:cNvSpPr/>
          <p:nvPr/>
        </p:nvSpPr>
        <p:spPr>
          <a:xfrm>
            <a:off x="376428" y="4591469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54" name="Text 52"/>
          <p:cNvSpPr/>
          <p:nvPr/>
        </p:nvSpPr>
        <p:spPr>
          <a:xfrm>
            <a:off x="376428" y="4591469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137"/>
          </a:p>
        </p:txBody>
      </p:sp>
      <p:sp>
        <p:nvSpPr>
          <p:cNvPr id="55" name="Shape 53"/>
          <p:cNvSpPr/>
          <p:nvPr/>
        </p:nvSpPr>
        <p:spPr>
          <a:xfrm>
            <a:off x="2456688" y="4591469"/>
            <a:ext cx="3546348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56" name="Text 54"/>
          <p:cNvSpPr/>
          <p:nvPr/>
        </p:nvSpPr>
        <p:spPr>
          <a:xfrm>
            <a:off x="2456688" y="4591469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Delivery</a:t>
            </a:r>
            <a:endParaRPr lang="en-US" sz="1137"/>
          </a:p>
        </p:txBody>
      </p:sp>
      <p:sp>
        <p:nvSpPr>
          <p:cNvPr id="57" name="Shape 55"/>
          <p:cNvSpPr/>
          <p:nvPr/>
        </p:nvSpPr>
        <p:spPr>
          <a:xfrm>
            <a:off x="6003036" y="4591469"/>
            <a:ext cx="3536442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58" name="Text 56"/>
          <p:cNvSpPr/>
          <p:nvPr/>
        </p:nvSpPr>
        <p:spPr>
          <a:xfrm>
            <a:off x="6003036" y="4591469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Settled (BRR Index)</a:t>
            </a:r>
            <a:endParaRPr lang="en-US" sz="1137"/>
          </a:p>
        </p:txBody>
      </p:sp>
      <p:sp>
        <p:nvSpPr>
          <p:cNvPr id="59" name="Shape 57"/>
          <p:cNvSpPr/>
          <p:nvPr/>
        </p:nvSpPr>
        <p:spPr>
          <a:xfrm>
            <a:off x="376428" y="4926293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60" name="Text 58"/>
          <p:cNvSpPr/>
          <p:nvPr/>
        </p:nvSpPr>
        <p:spPr>
          <a:xfrm>
            <a:off x="376428" y="4926293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Hours</a:t>
            </a:r>
            <a:endParaRPr lang="en-US" sz="1137"/>
          </a:p>
        </p:txBody>
      </p:sp>
      <p:sp>
        <p:nvSpPr>
          <p:cNvPr id="61" name="Shape 59"/>
          <p:cNvSpPr/>
          <p:nvPr/>
        </p:nvSpPr>
        <p:spPr>
          <a:xfrm>
            <a:off x="2456688" y="4926293"/>
            <a:ext cx="3546348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62" name="Text 60"/>
          <p:cNvSpPr/>
          <p:nvPr/>
        </p:nvSpPr>
        <p:spPr>
          <a:xfrm>
            <a:off x="2456688" y="4926293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07:20 – 14:00 (Chicago Time)</a:t>
            </a:r>
            <a:endParaRPr lang="en-US" sz="1137"/>
          </a:p>
        </p:txBody>
      </p:sp>
      <p:sp>
        <p:nvSpPr>
          <p:cNvPr id="63" name="Shape 61"/>
          <p:cNvSpPr/>
          <p:nvPr/>
        </p:nvSpPr>
        <p:spPr>
          <a:xfrm>
            <a:off x="6003036" y="4926293"/>
            <a:ext cx="3536442" cy="334823"/>
          </a:xfrm>
          <a:prstGeom prst="rect">
            <a:avLst/>
          </a:prstGeom>
          <a:solidFill>
            <a:srgbClr val="E8ECF2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64" name="Text 62"/>
          <p:cNvSpPr/>
          <p:nvPr/>
        </p:nvSpPr>
        <p:spPr>
          <a:xfrm>
            <a:off x="6003036" y="4926293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 – 17:00 (Local, ~23 hrs)</a:t>
            </a:r>
            <a:endParaRPr lang="en-US" sz="1137"/>
          </a:p>
        </p:txBody>
      </p:sp>
      <p:sp>
        <p:nvSpPr>
          <p:cNvPr id="65" name="Shape 63"/>
          <p:cNvSpPr/>
          <p:nvPr/>
        </p:nvSpPr>
        <p:spPr>
          <a:xfrm>
            <a:off x="376428" y="5261115"/>
            <a:ext cx="2080260" cy="334823"/>
          </a:xfrm>
          <a:prstGeom prst="rect">
            <a:avLst/>
          </a:prstGeom>
          <a:solidFill>
            <a:srgbClr val="D6DCE8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66" name="Text 64"/>
          <p:cNvSpPr/>
          <p:nvPr/>
        </p:nvSpPr>
        <p:spPr>
          <a:xfrm>
            <a:off x="376428" y="5261115"/>
            <a:ext cx="2080260" cy="334823"/>
          </a:xfrm>
          <a:prstGeom prst="rect">
            <a:avLst/>
          </a:prstGeom>
          <a:noFill/>
          <a:ln/>
        </p:spPr>
        <p:txBody>
          <a:bodyPr wrap="square" lIns="0" tIns="110067" rIns="0" bIns="0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</a:t>
            </a:r>
            <a:endParaRPr lang="en-US" sz="1137"/>
          </a:p>
        </p:txBody>
      </p:sp>
      <p:sp>
        <p:nvSpPr>
          <p:cNvPr id="67" name="Shape 65"/>
          <p:cNvSpPr/>
          <p:nvPr/>
        </p:nvSpPr>
        <p:spPr>
          <a:xfrm>
            <a:off x="2456688" y="5261115"/>
            <a:ext cx="3546348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68" name="Text 66"/>
          <p:cNvSpPr/>
          <p:nvPr/>
        </p:nvSpPr>
        <p:spPr>
          <a:xfrm>
            <a:off x="2456688" y="5261115"/>
            <a:ext cx="3546348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3, 1983</a:t>
            </a:r>
            <a:endParaRPr lang="en-US" sz="1137"/>
          </a:p>
        </p:txBody>
      </p:sp>
      <p:sp>
        <p:nvSpPr>
          <p:cNvPr id="69" name="Shape 67"/>
          <p:cNvSpPr/>
          <p:nvPr/>
        </p:nvSpPr>
        <p:spPr>
          <a:xfrm>
            <a:off x="6003036" y="5261115"/>
            <a:ext cx="3536442" cy="334823"/>
          </a:xfrm>
          <a:prstGeom prst="rect">
            <a:avLst/>
          </a:prstGeom>
          <a:solidFill>
            <a:srgbClr val="FFFFFF"/>
          </a:solidFill>
          <a:ln w="12700">
            <a:solidFill>
              <a:srgbClr val="B0BAD4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70" name="Text 68"/>
          <p:cNvSpPr/>
          <p:nvPr/>
        </p:nvSpPr>
        <p:spPr>
          <a:xfrm>
            <a:off x="6003036" y="5261115"/>
            <a:ext cx="3536442" cy="334823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31, 2022</a:t>
            </a:r>
            <a:endParaRPr lang="en-US" sz="1137"/>
          </a:p>
        </p:txBody>
      </p:sp>
      <p:sp>
        <p:nvSpPr>
          <p:cNvPr id="71" name="Shape 69"/>
          <p:cNvSpPr/>
          <p:nvPr/>
        </p:nvSpPr>
        <p:spPr>
          <a:xfrm>
            <a:off x="376428" y="1881188"/>
            <a:ext cx="9163050" cy="3714750"/>
          </a:xfrm>
          <a:prstGeom prst="rect">
            <a:avLst/>
          </a:prstGeom>
          <a:ln w="12700">
            <a:solidFill>
              <a:srgbClr val="5A6A9A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72" name="Shape 70"/>
          <p:cNvSpPr/>
          <p:nvPr/>
        </p:nvSpPr>
        <p:spPr>
          <a:xfrm>
            <a:off x="2456688" y="1881188"/>
            <a:ext cx="0" cy="3714750"/>
          </a:xfrm>
          <a:prstGeom prst="line">
            <a:avLst/>
          </a:prstGeom>
          <a:noFill/>
          <a:ln w="12700">
            <a:solidFill>
              <a:srgbClr val="5A6A9A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73" name="Shape 71"/>
          <p:cNvSpPr/>
          <p:nvPr/>
        </p:nvSpPr>
        <p:spPr>
          <a:xfrm>
            <a:off x="6003036" y="1881188"/>
            <a:ext cx="0" cy="3714750"/>
          </a:xfrm>
          <a:prstGeom prst="line">
            <a:avLst/>
          </a:prstGeom>
          <a:noFill/>
          <a:ln w="12700">
            <a:solidFill>
              <a:srgbClr val="5A6A9A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74" name="Shape 72"/>
          <p:cNvSpPr/>
          <p:nvPr/>
        </p:nvSpPr>
        <p:spPr>
          <a:xfrm>
            <a:off x="376428" y="5655374"/>
            <a:ext cx="9163050" cy="32689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  <p:txBody>
          <a:bodyPr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88"/>
          </a:p>
        </p:txBody>
      </p:sp>
      <p:sp>
        <p:nvSpPr>
          <p:cNvPr id="75" name="Text 73"/>
          <p:cNvSpPr/>
          <p:nvPr/>
        </p:nvSpPr>
        <p:spPr>
          <a:xfrm>
            <a:off x="416052" y="5655374"/>
            <a:ext cx="9083802" cy="326898"/>
          </a:xfrm>
          <a:prstGeom prst="rect">
            <a:avLst/>
          </a:prstGeom>
          <a:noFill/>
          <a:ln/>
        </p:spPr>
        <p:txBody>
          <a:bodyPr wrap="square" lIns="55033" tIns="55033" rIns="55033" bIns="55033" rtlCol="0" anchor="ctr"/>
          <a:lstStyle>
            <a:lvl1pPr marL="0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433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75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BTC offers a much shorter data history but significantly stronger trend-following signal and higher risk-adjusted returns.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9351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Evidence — Variance Ratio Profile (TY vs BTC)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fig_v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82109"/>
            <a:ext cx="9174480" cy="4693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Lo–MacKinlay VR(q) on price differences, log-spaced horizons. TY hovers just below 1 across all q (random-walk-like, dipping ~0.89 at 10 sessions). BTC reaches a deeper 0.82 at ~8.6 days. Neither rejects the null at 5%, but the push–response test on the next slide tells the actually informative story for our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73D71-AE59-5804-C28F-7559C7CE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Evidence — Push–Response Diagrams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fig_push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88150"/>
            <a:ext cx="9174480" cy="4681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Conditional mean of the forward response per push-decile, with bin-level standard errors. TY shows positive Spearman ρ ≈ 0.59 (p ≈ 0.06) at 1440 bars (~18 sessions) — multi-week trend. BTC shows ρ ≈ +0.67 (p ≈ 0.02) at 3456 bars (~12 days). Mean-reverting at shorter horizons. These horizons drive the walk-forward picks of L*.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15 / 35</a:t>
            </a:r>
          </a:p>
        </p:txBody>
      </p:sp>
    </p:spTree>
    <p:extLst>
      <p:ext uri="{BB962C8B-B14F-4D97-AF65-F5344CB8AC3E}">
        <p14:creationId xmlns:p14="http://schemas.microsoft.com/office/powerpoint/2010/main" val="2158436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83E49181-43F3-FCA9-1B36-0202DE505189}"/>
              </a:ext>
            </a:extLst>
          </p:cNvPr>
          <p:cNvSpPr/>
          <p:nvPr/>
        </p:nvSpPr>
        <p:spPr>
          <a:xfrm>
            <a:off x="548640" y="898634"/>
            <a:ext cx="4099561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D1084810-18C6-9B05-8B63-184743BE2B5D}"/>
              </a:ext>
            </a:extLst>
          </p:cNvPr>
          <p:cNvSpPr/>
          <p:nvPr/>
        </p:nvSpPr>
        <p:spPr>
          <a:xfrm>
            <a:off x="548640" y="898634"/>
            <a:ext cx="4099561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6ED2B356-4053-7AF5-8903-B62BA7D1E753}"/>
              </a:ext>
            </a:extLst>
          </p:cNvPr>
          <p:cNvSpPr/>
          <p:nvPr/>
        </p:nvSpPr>
        <p:spPr>
          <a:xfrm>
            <a:off x="685800" y="898634"/>
            <a:ext cx="3875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Parameters</a:t>
            </a:r>
            <a:endParaRPr lang="en-US" sz="1400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21AAB17F-1676-9B98-C276-DDF77E0B90D3}"/>
              </a:ext>
            </a:extLst>
          </p:cNvPr>
          <p:cNvSpPr/>
          <p:nvPr/>
        </p:nvSpPr>
        <p:spPr>
          <a:xfrm>
            <a:off x="548640" y="1428986"/>
            <a:ext cx="134167" cy="1444752"/>
          </a:xfrm>
          <a:prstGeom prst="rect">
            <a:avLst/>
          </a:prstGeom>
          <a:solidFill>
            <a:srgbClr val="EFCB68"/>
          </a:solidFill>
          <a:ln w="12700">
            <a:solidFill>
              <a:srgbClr val="EFC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F9E0506C-96E6-A4D8-D917-1885F87AD631}"/>
              </a:ext>
            </a:extLst>
          </p:cNvPr>
          <p:cNvSpPr/>
          <p:nvPr/>
        </p:nvSpPr>
        <p:spPr>
          <a:xfrm>
            <a:off x="822960" y="1492994"/>
            <a:ext cx="37268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(Channel Length)</a:t>
            </a:r>
            <a:endParaRPr lang="en-US" sz="125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BDB89E58-5EF0-9776-0919-EB0E940599CC}"/>
              </a:ext>
            </a:extLst>
          </p:cNvPr>
          <p:cNvSpPr/>
          <p:nvPr/>
        </p:nvSpPr>
        <p:spPr>
          <a:xfrm>
            <a:off x="822960" y="1877042"/>
            <a:ext cx="37268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bars in the rolling High/Low channel. Entry signal triggered when price breaks above High(L) [long] or below Low(L) [short]. The key parameter capturing the trending horizon.</a:t>
            </a:r>
            <a:endParaRPr lang="en-US" sz="1100" dirty="0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D3B48B44-37FD-0540-0B94-467F87AA6E6B}"/>
              </a:ext>
            </a:extLst>
          </p:cNvPr>
          <p:cNvSpPr/>
          <p:nvPr/>
        </p:nvSpPr>
        <p:spPr>
          <a:xfrm>
            <a:off x="548640" y="3029186"/>
            <a:ext cx="134167" cy="1444752"/>
          </a:xfrm>
          <a:prstGeom prst="rect">
            <a:avLst/>
          </a:prstGeom>
          <a:solidFill>
            <a:srgbClr val="EFCB68"/>
          </a:solidFill>
          <a:ln w="12700">
            <a:solidFill>
              <a:srgbClr val="EFC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8C995FCA-08EF-04DF-49CB-199BEDB95C3C}"/>
              </a:ext>
            </a:extLst>
          </p:cNvPr>
          <p:cNvSpPr/>
          <p:nvPr/>
        </p:nvSpPr>
        <p:spPr>
          <a:xfrm>
            <a:off x="822960" y="3093194"/>
            <a:ext cx="37268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(Signal Threshold)</a:t>
            </a:r>
            <a:endParaRPr lang="en-US" sz="125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B9E942FF-9658-E5AF-D0D4-9C4B6DED95FB}"/>
              </a:ext>
            </a:extLst>
          </p:cNvPr>
          <p:cNvSpPr/>
          <p:nvPr/>
        </p:nvSpPr>
        <p:spPr>
          <a:xfrm>
            <a:off x="822960" y="3477242"/>
            <a:ext cx="37268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breakout magnitude as a fraction of channel width. Filters noise signals. Only enter when the breakout exceeds S × (High – Low) to avoid whipsaws.</a:t>
            </a:r>
            <a:endParaRPr lang="en-US" sz="1100" dirty="0"/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5B195134-DAB1-5511-31BB-DE33D2D33E82}"/>
              </a:ext>
            </a:extLst>
          </p:cNvPr>
          <p:cNvSpPr/>
          <p:nvPr/>
        </p:nvSpPr>
        <p:spPr>
          <a:xfrm>
            <a:off x="548640" y="4629386"/>
            <a:ext cx="134167" cy="1444752"/>
          </a:xfrm>
          <a:prstGeom prst="rect">
            <a:avLst/>
          </a:prstGeom>
          <a:solidFill>
            <a:srgbClr val="EFCB68"/>
          </a:solidFill>
          <a:ln w="12700">
            <a:solidFill>
              <a:srgbClr val="EFC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6142F012-89E9-D9B3-5982-3236DDC95300}"/>
              </a:ext>
            </a:extLst>
          </p:cNvPr>
          <p:cNvSpPr/>
          <p:nvPr/>
        </p:nvSpPr>
        <p:spPr>
          <a:xfrm>
            <a:off x="822960" y="4693394"/>
            <a:ext cx="37268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 (Drawdown Control)</a:t>
            </a:r>
            <a:endParaRPr lang="en-US" sz="1250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1BA9B7A6-1F2E-6593-92B5-1CB8205BEDF7}"/>
              </a:ext>
            </a:extLst>
          </p:cNvPr>
          <p:cNvSpPr/>
          <p:nvPr/>
        </p:nvSpPr>
        <p:spPr>
          <a:xfrm>
            <a:off x="822960" y="5077442"/>
            <a:ext cx="37268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allowable account drawdown before position sizing is reduced. Scales position down proportionally as realized drawdown approaches the DD limit. Preserves capital in losing streaks.</a:t>
            </a:r>
            <a:endParaRPr lang="en-US" sz="11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D6F9BBDF-E3D2-CD3D-6682-EC39142C6444}"/>
              </a:ext>
            </a:extLst>
          </p:cNvPr>
          <p:cNvSpPr/>
          <p:nvPr/>
        </p:nvSpPr>
        <p:spPr>
          <a:xfrm>
            <a:off x="4989786" y="897373"/>
            <a:ext cx="44196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863E4F8E-4A36-6C86-EF90-8149BFBC1DF7}"/>
              </a:ext>
            </a:extLst>
          </p:cNvPr>
          <p:cNvSpPr/>
          <p:nvPr/>
        </p:nvSpPr>
        <p:spPr>
          <a:xfrm>
            <a:off x="5008179" y="914400"/>
            <a:ext cx="4401207" cy="43726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05EC0CEE-E478-329D-DE0A-11560DCC66EF}"/>
              </a:ext>
            </a:extLst>
          </p:cNvPr>
          <p:cNvSpPr/>
          <p:nvPr/>
        </p:nvSpPr>
        <p:spPr>
          <a:xfrm>
            <a:off x="5623560" y="914400"/>
            <a:ext cx="6006095" cy="437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Logic Flow</a:t>
            </a:r>
            <a:endParaRPr lang="en-US" sz="1400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778FF6BE-7EBD-C0A5-EF23-6191B5CDE027}"/>
              </a:ext>
            </a:extLst>
          </p:cNvPr>
          <p:cNvSpPr/>
          <p:nvPr/>
        </p:nvSpPr>
        <p:spPr>
          <a:xfrm>
            <a:off x="5081226" y="1464301"/>
            <a:ext cx="500508" cy="480993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4AEAB10F-F6E7-BF44-3DEE-8E9CAABCD3B2}"/>
              </a:ext>
            </a:extLst>
          </p:cNvPr>
          <p:cNvSpPr/>
          <p:nvPr/>
        </p:nvSpPr>
        <p:spPr>
          <a:xfrm>
            <a:off x="5081226" y="1464301"/>
            <a:ext cx="500508" cy="48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F6B7E0EF-50FF-B497-B192-D896853E7F4B}"/>
              </a:ext>
            </a:extLst>
          </p:cNvPr>
          <p:cNvSpPr/>
          <p:nvPr/>
        </p:nvSpPr>
        <p:spPr>
          <a:xfrm>
            <a:off x="6172200" y="1481328"/>
            <a:ext cx="5460086" cy="26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Rolling Channel</a:t>
            </a:r>
            <a:endParaRPr lang="en-US" sz="1200" dirty="0"/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607ED81F-BB84-5F2E-1316-C10CC985565A}"/>
              </a:ext>
            </a:extLst>
          </p:cNvPr>
          <p:cNvSpPr/>
          <p:nvPr/>
        </p:nvSpPr>
        <p:spPr>
          <a:xfrm>
            <a:off x="6172200" y="1755648"/>
            <a:ext cx="5460086" cy="524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High(L) = max(Close, L bars)   |   Low(L) = min(Close, L bars)</a:t>
            </a:r>
            <a:endParaRPr lang="en-US" sz="1000" dirty="0"/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8C0E9176-C13B-9B55-AFA3-378B0A9EA1ED}"/>
              </a:ext>
            </a:extLst>
          </p:cNvPr>
          <p:cNvSpPr/>
          <p:nvPr/>
        </p:nvSpPr>
        <p:spPr>
          <a:xfrm>
            <a:off x="5328114" y="1967221"/>
            <a:ext cx="0" cy="437266"/>
          </a:xfrm>
          <a:prstGeom prst="line">
            <a:avLst/>
          </a:prstGeom>
          <a:noFill/>
          <a:ln w="19050">
            <a:solidFill>
              <a:srgbClr val="75AA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8">
            <a:extLst>
              <a:ext uri="{FF2B5EF4-FFF2-40B4-BE49-F238E27FC236}">
                <a16:creationId xmlns:a16="http://schemas.microsoft.com/office/drawing/2014/main" id="{C230164A-546A-87BF-C1A2-E9452CBF856A}"/>
              </a:ext>
            </a:extLst>
          </p:cNvPr>
          <p:cNvSpPr/>
          <p:nvPr/>
        </p:nvSpPr>
        <p:spPr>
          <a:xfrm>
            <a:off x="5081226" y="2424421"/>
            <a:ext cx="500508" cy="480993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6753FFFA-B421-0EF3-FA3B-003E87D5BDBE}"/>
              </a:ext>
            </a:extLst>
          </p:cNvPr>
          <p:cNvSpPr/>
          <p:nvPr/>
        </p:nvSpPr>
        <p:spPr>
          <a:xfrm>
            <a:off x="5081226" y="2424421"/>
            <a:ext cx="500508" cy="48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C771AFFF-0B07-A11A-3789-4BF7D5522C44}"/>
              </a:ext>
            </a:extLst>
          </p:cNvPr>
          <p:cNvSpPr/>
          <p:nvPr/>
        </p:nvSpPr>
        <p:spPr>
          <a:xfrm>
            <a:off x="6172200" y="2441448"/>
            <a:ext cx="5460086" cy="26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Breakout Signal</a:t>
            </a:r>
            <a:endParaRPr lang="en-US" sz="1200" dirty="0"/>
          </a:p>
        </p:txBody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1C33DD3D-6443-503F-E8CB-50F6283FFC14}"/>
              </a:ext>
            </a:extLst>
          </p:cNvPr>
          <p:cNvSpPr/>
          <p:nvPr/>
        </p:nvSpPr>
        <p:spPr>
          <a:xfrm>
            <a:off x="6172200" y="2715768"/>
            <a:ext cx="5460086" cy="524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Close &gt; High(L−1): signal = +1 (Long)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Close &lt; Low(L−1):  signal = −1 (Short)</a:t>
            </a:r>
            <a:endParaRPr lang="en-US" sz="100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F6F9BDE9-B13D-5447-0D80-236D76D399D2}"/>
              </a:ext>
            </a:extLst>
          </p:cNvPr>
          <p:cNvSpPr/>
          <p:nvPr/>
        </p:nvSpPr>
        <p:spPr>
          <a:xfrm>
            <a:off x="5328114" y="2927341"/>
            <a:ext cx="0" cy="437266"/>
          </a:xfrm>
          <a:prstGeom prst="line">
            <a:avLst/>
          </a:prstGeom>
          <a:noFill/>
          <a:ln w="19050">
            <a:solidFill>
              <a:srgbClr val="75AA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33">
            <a:extLst>
              <a:ext uri="{FF2B5EF4-FFF2-40B4-BE49-F238E27FC236}">
                <a16:creationId xmlns:a16="http://schemas.microsoft.com/office/drawing/2014/main" id="{A21042F2-C18F-C97B-F270-55723751A898}"/>
              </a:ext>
            </a:extLst>
          </p:cNvPr>
          <p:cNvSpPr/>
          <p:nvPr/>
        </p:nvSpPr>
        <p:spPr>
          <a:xfrm>
            <a:off x="5081226" y="3384541"/>
            <a:ext cx="500508" cy="480993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1FA09078-324A-1D74-2AB5-2E6FE84D2C89}"/>
              </a:ext>
            </a:extLst>
          </p:cNvPr>
          <p:cNvSpPr/>
          <p:nvPr/>
        </p:nvSpPr>
        <p:spPr>
          <a:xfrm>
            <a:off x="5081226" y="3384541"/>
            <a:ext cx="500508" cy="48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A120B1FA-BF9C-22F1-966E-BFC802EC24EE}"/>
              </a:ext>
            </a:extLst>
          </p:cNvPr>
          <p:cNvSpPr/>
          <p:nvPr/>
        </p:nvSpPr>
        <p:spPr>
          <a:xfrm>
            <a:off x="6172200" y="3401568"/>
            <a:ext cx="5460086" cy="26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Signal Threshold S</a:t>
            </a:r>
            <a:endParaRPr lang="en-US" sz="1200" dirty="0"/>
          </a:p>
        </p:txBody>
      </p:sp>
      <p:sp>
        <p:nvSpPr>
          <p:cNvPr id="32" name="Text 36">
            <a:extLst>
              <a:ext uri="{FF2B5EF4-FFF2-40B4-BE49-F238E27FC236}">
                <a16:creationId xmlns:a16="http://schemas.microsoft.com/office/drawing/2014/main" id="{329BA5D4-12E1-F6B6-C1DF-B380E0E7491C}"/>
              </a:ext>
            </a:extLst>
          </p:cNvPr>
          <p:cNvSpPr/>
          <p:nvPr/>
        </p:nvSpPr>
        <p:spPr>
          <a:xfrm>
            <a:off x="6172200" y="3675888"/>
            <a:ext cx="5460086" cy="524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trade if |Close − boundary| / (High−Low) &gt; S</a:t>
            </a:r>
            <a:endParaRPr lang="en-US" sz="1000" dirty="0"/>
          </a:p>
        </p:txBody>
      </p:sp>
      <p:sp>
        <p:nvSpPr>
          <p:cNvPr id="33" name="Shape 37">
            <a:extLst>
              <a:ext uri="{FF2B5EF4-FFF2-40B4-BE49-F238E27FC236}">
                <a16:creationId xmlns:a16="http://schemas.microsoft.com/office/drawing/2014/main" id="{4F647266-5C4C-3BC2-9D83-F763F05831B5}"/>
              </a:ext>
            </a:extLst>
          </p:cNvPr>
          <p:cNvSpPr/>
          <p:nvPr/>
        </p:nvSpPr>
        <p:spPr>
          <a:xfrm>
            <a:off x="5328114" y="3887461"/>
            <a:ext cx="0" cy="437266"/>
          </a:xfrm>
          <a:prstGeom prst="line">
            <a:avLst/>
          </a:prstGeom>
          <a:noFill/>
          <a:ln w="19050">
            <a:solidFill>
              <a:srgbClr val="75AA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8">
            <a:extLst>
              <a:ext uri="{FF2B5EF4-FFF2-40B4-BE49-F238E27FC236}">
                <a16:creationId xmlns:a16="http://schemas.microsoft.com/office/drawing/2014/main" id="{EEA4929F-C4C3-4DF3-90E0-CFB3DADE56CE}"/>
              </a:ext>
            </a:extLst>
          </p:cNvPr>
          <p:cNvSpPr/>
          <p:nvPr/>
        </p:nvSpPr>
        <p:spPr>
          <a:xfrm>
            <a:off x="5081226" y="4344661"/>
            <a:ext cx="500508" cy="480993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9">
            <a:extLst>
              <a:ext uri="{FF2B5EF4-FFF2-40B4-BE49-F238E27FC236}">
                <a16:creationId xmlns:a16="http://schemas.microsoft.com/office/drawing/2014/main" id="{FEB7FEA3-0F26-3352-F8BE-B9AC9FEBF06A}"/>
              </a:ext>
            </a:extLst>
          </p:cNvPr>
          <p:cNvSpPr/>
          <p:nvPr/>
        </p:nvSpPr>
        <p:spPr>
          <a:xfrm>
            <a:off x="5081226" y="4344661"/>
            <a:ext cx="500508" cy="48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949DC1F2-FF15-1E63-F344-2248DFC8797B}"/>
              </a:ext>
            </a:extLst>
          </p:cNvPr>
          <p:cNvSpPr/>
          <p:nvPr/>
        </p:nvSpPr>
        <p:spPr>
          <a:xfrm>
            <a:off x="6172200" y="4361688"/>
            <a:ext cx="5460086" cy="26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Control Scaling</a:t>
            </a:r>
            <a:endParaRPr lang="en-US" sz="1200" dirty="0"/>
          </a:p>
        </p:txBody>
      </p:sp>
      <p:sp>
        <p:nvSpPr>
          <p:cNvPr id="37" name="Text 41">
            <a:extLst>
              <a:ext uri="{FF2B5EF4-FFF2-40B4-BE49-F238E27FC236}">
                <a16:creationId xmlns:a16="http://schemas.microsoft.com/office/drawing/2014/main" id="{EC89BE3B-EB54-2004-3ED4-AF32C3F3E555}"/>
              </a:ext>
            </a:extLst>
          </p:cNvPr>
          <p:cNvSpPr/>
          <p:nvPr/>
        </p:nvSpPr>
        <p:spPr>
          <a:xfrm>
            <a:off x="6172200" y="4636008"/>
            <a:ext cx="5460086" cy="524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size ×= max(0, 1 − DrawdownFrac / DD_limit)</a:t>
            </a:r>
            <a:endParaRPr lang="en-US" sz="1000" dirty="0"/>
          </a:p>
        </p:txBody>
      </p:sp>
      <p:sp>
        <p:nvSpPr>
          <p:cNvPr id="38" name="Shape 42">
            <a:extLst>
              <a:ext uri="{FF2B5EF4-FFF2-40B4-BE49-F238E27FC236}">
                <a16:creationId xmlns:a16="http://schemas.microsoft.com/office/drawing/2014/main" id="{9AEED9A7-C2FC-286E-17F0-C00F5BC525A5}"/>
              </a:ext>
            </a:extLst>
          </p:cNvPr>
          <p:cNvSpPr/>
          <p:nvPr/>
        </p:nvSpPr>
        <p:spPr>
          <a:xfrm>
            <a:off x="5328114" y="4847581"/>
            <a:ext cx="0" cy="437266"/>
          </a:xfrm>
          <a:prstGeom prst="line">
            <a:avLst/>
          </a:prstGeom>
          <a:noFill/>
          <a:ln w="19050">
            <a:solidFill>
              <a:srgbClr val="75AA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43">
            <a:extLst>
              <a:ext uri="{FF2B5EF4-FFF2-40B4-BE49-F238E27FC236}">
                <a16:creationId xmlns:a16="http://schemas.microsoft.com/office/drawing/2014/main" id="{0E50F681-D051-315D-D8BF-80B6826A3D7C}"/>
              </a:ext>
            </a:extLst>
          </p:cNvPr>
          <p:cNvSpPr/>
          <p:nvPr/>
        </p:nvSpPr>
        <p:spPr>
          <a:xfrm>
            <a:off x="5081226" y="5304781"/>
            <a:ext cx="500508" cy="480993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4">
            <a:extLst>
              <a:ext uri="{FF2B5EF4-FFF2-40B4-BE49-F238E27FC236}">
                <a16:creationId xmlns:a16="http://schemas.microsoft.com/office/drawing/2014/main" id="{67396189-2FB8-CEBA-AA54-7D879DF44B2D}"/>
              </a:ext>
            </a:extLst>
          </p:cNvPr>
          <p:cNvSpPr/>
          <p:nvPr/>
        </p:nvSpPr>
        <p:spPr>
          <a:xfrm>
            <a:off x="5081226" y="5304781"/>
            <a:ext cx="500508" cy="48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45">
            <a:extLst>
              <a:ext uri="{FF2B5EF4-FFF2-40B4-BE49-F238E27FC236}">
                <a16:creationId xmlns:a16="http://schemas.microsoft.com/office/drawing/2014/main" id="{A42D4DBF-7C93-3652-9B5A-AE8D5CC57709}"/>
              </a:ext>
            </a:extLst>
          </p:cNvPr>
          <p:cNvSpPr/>
          <p:nvPr/>
        </p:nvSpPr>
        <p:spPr>
          <a:xfrm>
            <a:off x="6172200" y="5321808"/>
            <a:ext cx="5460086" cy="26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Track P&amp;L</a:t>
            </a:r>
            <a:endParaRPr lang="en-US" sz="1200" dirty="0"/>
          </a:p>
        </p:txBody>
      </p:sp>
      <p:sp>
        <p:nvSpPr>
          <p:cNvPr id="42" name="Text 46">
            <a:extLst>
              <a:ext uri="{FF2B5EF4-FFF2-40B4-BE49-F238E27FC236}">
                <a16:creationId xmlns:a16="http://schemas.microsoft.com/office/drawing/2014/main" id="{C3C1B07D-5A82-8467-0415-B588660D00CB}"/>
              </a:ext>
            </a:extLst>
          </p:cNvPr>
          <p:cNvSpPr/>
          <p:nvPr/>
        </p:nvSpPr>
        <p:spPr>
          <a:xfrm>
            <a:off x="6172200" y="5596128"/>
            <a:ext cx="2910840" cy="524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Mark-to-market at each bar close. Track equity for walk-forward objective.</a:t>
            </a:r>
            <a:endParaRPr lang="en-US" sz="1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99E85E-24D1-D6AF-9402-6B21398E1A60}"/>
              </a:ext>
            </a:extLst>
          </p:cNvPr>
          <p:cNvSpPr txBox="1"/>
          <p:nvPr/>
        </p:nvSpPr>
        <p:spPr>
          <a:xfrm>
            <a:off x="547773" y="421281"/>
            <a:ext cx="41000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f-ZA" sz="1600" b="1">
                <a:latin typeface="Cambria"/>
                <a:ea typeface="Cambria"/>
                <a:cs typeface="Calibri"/>
              </a:rPr>
              <a:t>Strategy: Channel WithDDControl</a:t>
            </a:r>
            <a:endParaRPr lang="zh-CN" altLang="en-US" sz="1600" b="1">
              <a:latin typeface="Cambri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7454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8">
            <a:extLst>
              <a:ext uri="{FF2B5EF4-FFF2-40B4-BE49-F238E27FC236}">
                <a16:creationId xmlns:a16="http://schemas.microsoft.com/office/drawing/2014/main" id="{582A9353-CBA1-06F3-75BB-9AA6F88491B7}"/>
              </a:ext>
            </a:extLst>
          </p:cNvPr>
          <p:cNvSpPr/>
          <p:nvPr/>
        </p:nvSpPr>
        <p:spPr>
          <a:xfrm>
            <a:off x="320040" y="914399"/>
            <a:ext cx="9186116" cy="2272461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604928C-01B6-7BF9-E5F0-EE4A07CB91F1}"/>
              </a:ext>
            </a:extLst>
          </p:cNvPr>
          <p:cNvSpPr/>
          <p:nvPr/>
        </p:nvSpPr>
        <p:spPr>
          <a:xfrm>
            <a:off x="457200" y="987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Walk-Forward: 4-Year IS → 1-Quarter OOS</a:t>
            </a:r>
            <a:endParaRPr lang="en-US" sz="1200" dirty="0"/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2B54881A-5BA9-F980-8D35-76D03E2789D0}"/>
              </a:ext>
            </a:extLst>
          </p:cNvPr>
          <p:cNvSpPr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D979677A-261A-7413-BDBA-0B9B1849EE63}"/>
              </a:ext>
            </a:extLst>
          </p:cNvPr>
          <p:cNvSpPr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Period 1  (4 Years)</a:t>
            </a:r>
            <a:endParaRPr lang="en-US" sz="1100" dirty="0"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A0240E26-290E-9719-DD61-B93C5338ADF3}"/>
              </a:ext>
            </a:extLst>
          </p:cNvPr>
          <p:cNvSpPr/>
          <p:nvPr/>
        </p:nvSpPr>
        <p:spPr>
          <a:xfrm>
            <a:off x="4617720" y="1371600"/>
            <a:ext cx="914400" cy="548640"/>
          </a:xfrm>
          <a:prstGeom prst="rect">
            <a:avLst/>
          </a:prstGeom>
          <a:solidFill>
            <a:srgbClr val="EFCB68"/>
          </a:solidFill>
          <a:ln w="12700">
            <a:solidFill>
              <a:srgbClr val="EFC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1DCBA0CD-DA0B-47B8-AF74-14BD58365251}"/>
              </a:ext>
            </a:extLst>
          </p:cNvPr>
          <p:cNvSpPr/>
          <p:nvPr/>
        </p:nvSpPr>
        <p:spPr>
          <a:xfrm>
            <a:off x="461772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Q1</a:t>
            </a:r>
            <a:endParaRPr lang="en-US" sz="1000" dirty="0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F300EE67-2336-BE2D-DF53-17D7FD2FEC98}"/>
              </a:ext>
            </a:extLst>
          </p:cNvPr>
          <p:cNvSpPr/>
          <p:nvPr/>
        </p:nvSpPr>
        <p:spPr>
          <a:xfrm>
            <a:off x="1005840" y="2011680"/>
            <a:ext cx="4114800" cy="548640"/>
          </a:xfrm>
          <a:prstGeom prst="rect">
            <a:avLst/>
          </a:prstGeom>
          <a:solidFill>
            <a:srgbClr val="24499A"/>
          </a:solidFill>
          <a:ln w="12700">
            <a:solidFill>
              <a:srgbClr val="244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A156E146-E0F3-6D22-2FA5-8FB26B1659BC}"/>
              </a:ext>
            </a:extLst>
          </p:cNvPr>
          <p:cNvSpPr/>
          <p:nvPr/>
        </p:nvSpPr>
        <p:spPr>
          <a:xfrm>
            <a:off x="100584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Period 2  (4 Years)</a:t>
            </a:r>
            <a:endParaRPr lang="en-US" sz="1100" dirty="0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11D0227D-CD94-2D5E-DDA8-AD55080DD2F1}"/>
              </a:ext>
            </a:extLst>
          </p:cNvPr>
          <p:cNvSpPr/>
          <p:nvPr/>
        </p:nvSpPr>
        <p:spPr>
          <a:xfrm>
            <a:off x="5166360" y="2011680"/>
            <a:ext cx="914400" cy="548640"/>
          </a:xfrm>
          <a:prstGeom prst="rect">
            <a:avLst/>
          </a:prstGeom>
          <a:solidFill>
            <a:srgbClr val="EFCB68"/>
          </a:solidFill>
          <a:ln w="12700">
            <a:solidFill>
              <a:srgbClr val="EFC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642BA5E0-14B6-A5E1-B11D-821AE5927D46}"/>
              </a:ext>
            </a:extLst>
          </p:cNvPr>
          <p:cNvSpPr/>
          <p:nvPr/>
        </p:nvSpPr>
        <p:spPr>
          <a:xfrm>
            <a:off x="5166360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Q2</a:t>
            </a:r>
            <a:endParaRPr lang="en-US" sz="1000" dirty="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68B19813-BD0C-AB4F-0E47-4015E01BFA39}"/>
              </a:ext>
            </a:extLst>
          </p:cNvPr>
          <p:cNvSpPr/>
          <p:nvPr/>
        </p:nvSpPr>
        <p:spPr>
          <a:xfrm>
            <a:off x="1554480" y="2651760"/>
            <a:ext cx="4114800" cy="548640"/>
          </a:xfrm>
          <a:prstGeom prst="rect">
            <a:avLst/>
          </a:prstGeom>
          <a:solidFill>
            <a:srgbClr val="2D5DB4"/>
          </a:solidFill>
          <a:ln w="12700">
            <a:solidFill>
              <a:srgbClr val="2D5D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DBE7CAF3-0221-112D-8AE0-108CA3E881E9}"/>
              </a:ext>
            </a:extLst>
          </p:cNvPr>
          <p:cNvSpPr/>
          <p:nvPr/>
        </p:nvSpPr>
        <p:spPr>
          <a:xfrm>
            <a:off x="155448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Period 3  (4 Years)</a:t>
            </a:r>
            <a:endParaRPr lang="en-US" sz="1100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D0370D94-A3FD-ED38-9F80-604EF3ECB19A}"/>
              </a:ext>
            </a:extLst>
          </p:cNvPr>
          <p:cNvSpPr/>
          <p:nvPr/>
        </p:nvSpPr>
        <p:spPr>
          <a:xfrm>
            <a:off x="5715000" y="2651760"/>
            <a:ext cx="914400" cy="548640"/>
          </a:xfrm>
          <a:prstGeom prst="rect">
            <a:avLst/>
          </a:prstGeom>
          <a:solidFill>
            <a:srgbClr val="EFCB68"/>
          </a:solidFill>
          <a:ln w="12700">
            <a:solidFill>
              <a:srgbClr val="EFC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5A8A19CD-DF30-8970-3E0B-D93DBAB8D0A9}"/>
              </a:ext>
            </a:extLst>
          </p:cNvPr>
          <p:cNvSpPr/>
          <p:nvPr/>
        </p:nvSpPr>
        <p:spPr>
          <a:xfrm>
            <a:off x="571500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Q3</a:t>
            </a:r>
            <a:endParaRPr lang="en-US" sz="10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A108B9CF-0C56-FC14-835E-BA04B26B813F}"/>
              </a:ext>
            </a:extLst>
          </p:cNvPr>
          <p:cNvSpPr/>
          <p:nvPr/>
        </p:nvSpPr>
        <p:spPr>
          <a:xfrm>
            <a:off x="6766560" y="2651760"/>
            <a:ext cx="269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A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(rolls forward one quarter each iteration)</a:t>
            </a:r>
            <a:endParaRPr lang="en-US" sz="1200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BD3B5F77-FA79-3469-DF90-5872C706623A}"/>
              </a:ext>
            </a:extLst>
          </p:cNvPr>
          <p:cNvSpPr/>
          <p:nvPr/>
        </p:nvSpPr>
        <p:spPr>
          <a:xfrm>
            <a:off x="320040" y="3337560"/>
            <a:ext cx="2090057" cy="12373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A0EBCFE2-C1A8-7FEA-D0C2-6603ECA9E8DE}"/>
              </a:ext>
            </a:extLst>
          </p:cNvPr>
          <p:cNvSpPr/>
          <p:nvPr/>
        </p:nvSpPr>
        <p:spPr>
          <a:xfrm>
            <a:off x="320040" y="3337560"/>
            <a:ext cx="2090057" cy="44543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9D9F0A8E-0852-6A66-4213-84635F1D9335}"/>
              </a:ext>
            </a:extLst>
          </p:cNvPr>
          <p:cNvSpPr/>
          <p:nvPr/>
        </p:nvSpPr>
        <p:spPr>
          <a:xfrm>
            <a:off x="320040" y="3337560"/>
            <a:ext cx="2090057" cy="445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Window (T)</a:t>
            </a:r>
            <a:endParaRPr lang="en-US" sz="1200" dirty="0"/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88C399A3-53E0-934B-0A33-92720D489C62}"/>
              </a:ext>
            </a:extLst>
          </p:cNvPr>
          <p:cNvSpPr/>
          <p:nvPr/>
        </p:nvSpPr>
        <p:spPr>
          <a:xfrm>
            <a:off x="411481" y="3794759"/>
            <a:ext cx="1950720" cy="692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(default)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Sweep: 1–10 years</a:t>
            </a:r>
            <a:endParaRPr lang="en-US" sz="1200" dirty="0"/>
          </a:p>
        </p:txBody>
      </p:sp>
      <p:sp>
        <p:nvSpPr>
          <p:cNvPr id="35" name="Shape 39">
            <a:extLst>
              <a:ext uri="{FF2B5EF4-FFF2-40B4-BE49-F238E27FC236}">
                <a16:creationId xmlns:a16="http://schemas.microsoft.com/office/drawing/2014/main" id="{C01226BF-2FE2-73C9-7DBD-8652E6DCC457}"/>
              </a:ext>
            </a:extLst>
          </p:cNvPr>
          <p:cNvSpPr/>
          <p:nvPr/>
        </p:nvSpPr>
        <p:spPr>
          <a:xfrm>
            <a:off x="320040" y="4663440"/>
            <a:ext cx="91382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40">
            <a:extLst>
              <a:ext uri="{FF2B5EF4-FFF2-40B4-BE49-F238E27FC236}">
                <a16:creationId xmlns:a16="http://schemas.microsoft.com/office/drawing/2014/main" id="{DAA6D375-697D-0DE6-9F03-4D87B31D3A0D}"/>
              </a:ext>
            </a:extLst>
          </p:cNvPr>
          <p:cNvSpPr/>
          <p:nvPr/>
        </p:nvSpPr>
        <p:spPr>
          <a:xfrm>
            <a:off x="320040" y="4663440"/>
            <a:ext cx="164592" cy="1645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41">
            <a:extLst>
              <a:ext uri="{FF2B5EF4-FFF2-40B4-BE49-F238E27FC236}">
                <a16:creationId xmlns:a16="http://schemas.microsoft.com/office/drawing/2014/main" id="{431877F1-5554-DDDC-C3C1-6DFE60E2A744}"/>
              </a:ext>
            </a:extLst>
          </p:cNvPr>
          <p:cNvSpPr/>
          <p:nvPr/>
        </p:nvSpPr>
        <p:spPr>
          <a:xfrm>
            <a:off x="5943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8" name="Text 42">
            <a:extLst>
              <a:ext uri="{FF2B5EF4-FFF2-40B4-BE49-F238E27FC236}">
                <a16:creationId xmlns:a16="http://schemas.microsoft.com/office/drawing/2014/main" id="{A94A564E-91D1-A847-121F-833BCA8512E6}"/>
              </a:ext>
            </a:extLst>
          </p:cNvPr>
          <p:cNvSpPr/>
          <p:nvPr/>
        </p:nvSpPr>
        <p:spPr>
          <a:xfrm>
            <a:off x="594360" y="5120640"/>
            <a:ext cx="8458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IS: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enough to capture multiple market regimes for TY (rate cycles). For BTC, covers at least two volatility cycles.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1-Quarter OOS: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enough to test near-term generalization without parameter staleness. The T and τ sweeps (T=1–10y, τ=1–12M) verify robustness of this choice and are required by the assignment prompt.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Net Profit / Max DD: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return maximization with drawdown control, consistent with the WithDDControl mechanism.</a:t>
            </a:r>
            <a:endParaRPr lang="en-US" sz="11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78BE33-0BE5-C55F-A57B-D44B79946767}"/>
              </a:ext>
            </a:extLst>
          </p:cNvPr>
          <p:cNvSpPr txBox="1"/>
          <p:nvPr/>
        </p:nvSpPr>
        <p:spPr>
          <a:xfrm>
            <a:off x="484632" y="437801"/>
            <a:ext cx="5978768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AU" sz="1600" b="1" spc="-20" dirty="0">
                <a:latin typeface="Cambria"/>
                <a:ea typeface="Cambria"/>
              </a:rPr>
              <a:t>Strategy: Walk-Forward Optimization</a:t>
            </a:r>
            <a:endParaRPr lang="zh-CN" altLang="en-US" sz="1600" b="1" dirty="0">
              <a:latin typeface="Cambria"/>
              <a:ea typeface="SimSun"/>
              <a:cs typeface="Times New Roman"/>
            </a:endParaRPr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E2AD650A-67FC-164A-BD80-331250A17BAC}"/>
              </a:ext>
            </a:extLst>
          </p:cNvPr>
          <p:cNvSpPr/>
          <p:nvPr/>
        </p:nvSpPr>
        <p:spPr>
          <a:xfrm>
            <a:off x="2667000" y="3313262"/>
            <a:ext cx="2090057" cy="12373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016E9EC4-2E26-CE5F-F114-9996E95C9295}"/>
              </a:ext>
            </a:extLst>
          </p:cNvPr>
          <p:cNvSpPr/>
          <p:nvPr/>
        </p:nvSpPr>
        <p:spPr>
          <a:xfrm>
            <a:off x="2667000" y="3313262"/>
            <a:ext cx="2090057" cy="44543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C6B8E1D3-4255-8040-6172-2E8B65985347}"/>
              </a:ext>
            </a:extLst>
          </p:cNvPr>
          <p:cNvSpPr/>
          <p:nvPr/>
        </p:nvSpPr>
        <p:spPr>
          <a:xfrm>
            <a:off x="2667000" y="3313262"/>
            <a:ext cx="2090057" cy="445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Window (</a:t>
            </a:r>
            <a:r>
              <a:rPr lang="en-US" sz="1200" b="1" dirty="0" err="1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12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9C9D7CA8-4C63-C03B-4B94-89E903759D56}"/>
              </a:ext>
            </a:extLst>
          </p:cNvPr>
          <p:cNvSpPr/>
          <p:nvPr/>
        </p:nvSpPr>
        <p:spPr>
          <a:xfrm>
            <a:off x="2758441" y="3770461"/>
            <a:ext cx="1950720" cy="692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Quarter (default)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Sweep: 1–4Q / 1–12M</a:t>
            </a:r>
            <a:endParaRPr lang="en-US" sz="120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B5B706A2-275A-1AC5-4452-4C82FB734599}"/>
              </a:ext>
            </a:extLst>
          </p:cNvPr>
          <p:cNvSpPr/>
          <p:nvPr/>
        </p:nvSpPr>
        <p:spPr>
          <a:xfrm>
            <a:off x="5024470" y="3299723"/>
            <a:ext cx="2090057" cy="12373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0C903CF3-C6A2-4690-ED45-A959F1264633}"/>
              </a:ext>
            </a:extLst>
          </p:cNvPr>
          <p:cNvSpPr/>
          <p:nvPr/>
        </p:nvSpPr>
        <p:spPr>
          <a:xfrm>
            <a:off x="5024470" y="3299723"/>
            <a:ext cx="2090057" cy="44543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77F13F2E-4D3B-46EE-94E6-EE01E9A16AD0}"/>
              </a:ext>
            </a:extLst>
          </p:cNvPr>
          <p:cNvSpPr/>
          <p:nvPr/>
        </p:nvSpPr>
        <p:spPr>
          <a:xfrm>
            <a:off x="5024470" y="3299723"/>
            <a:ext cx="2090057" cy="445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8BB65D7C-BF9C-7B7D-6736-E6249F3B652E}"/>
              </a:ext>
            </a:extLst>
          </p:cNvPr>
          <p:cNvSpPr/>
          <p:nvPr/>
        </p:nvSpPr>
        <p:spPr>
          <a:xfrm>
            <a:off x="5115911" y="3756922"/>
            <a:ext cx="1950720" cy="692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0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F7436895-05E8-1327-68F2-0FD48BD43B5B}"/>
              </a:ext>
            </a:extLst>
          </p:cNvPr>
          <p:cNvSpPr/>
          <p:nvPr/>
        </p:nvSpPr>
        <p:spPr>
          <a:xfrm>
            <a:off x="7416099" y="3287958"/>
            <a:ext cx="2090057" cy="1237316"/>
          </a:xfrm>
          <a:prstGeom prst="rect">
            <a:avLst/>
          </a:prstGeom>
          <a:solidFill>
            <a:srgbClr val="FFFFFF"/>
          </a:solidFill>
          <a:ln w="12700">
            <a:solidFill>
              <a:srgbClr val="C4D8E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3FA86B67-1DC7-0A25-A9F8-F45438BBEB55}"/>
              </a:ext>
            </a:extLst>
          </p:cNvPr>
          <p:cNvSpPr/>
          <p:nvPr/>
        </p:nvSpPr>
        <p:spPr>
          <a:xfrm>
            <a:off x="7416099" y="3287958"/>
            <a:ext cx="2090057" cy="44543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D79024C7-DB13-712C-4161-126E14D81035}"/>
              </a:ext>
            </a:extLst>
          </p:cNvPr>
          <p:cNvSpPr/>
          <p:nvPr/>
        </p:nvSpPr>
        <p:spPr>
          <a:xfrm>
            <a:off x="7416099" y="3287958"/>
            <a:ext cx="2090057" cy="445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FC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</a:t>
            </a:r>
            <a:endParaRPr lang="en-US" sz="1200" dirty="0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24653346-D5CB-4B18-B727-6968FAC68A92}"/>
              </a:ext>
            </a:extLst>
          </p:cNvPr>
          <p:cNvSpPr/>
          <p:nvPr/>
        </p:nvSpPr>
        <p:spPr>
          <a:xfrm>
            <a:off x="7507540" y="3745157"/>
            <a:ext cx="1950720" cy="692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OOS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curves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20013831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28D5B"/>
                </a:solidFill>
                <a:latin typeface="Calibri"/>
              </a:rPr>
              <a:t>OUT-OF-SAMPLE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80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Walk-forward results for both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6E9EE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E6E9EE"/>
                </a:solidFill>
                <a:latin typeface="Calibri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Performance Metrics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RESULTS</a:t>
            </a:r>
          </a:p>
        </p:txBody>
      </p:sp>
      <p:pic>
        <p:nvPicPr>
          <p:cNvPr id="6" name="Picture 5" descr="slide_01_perform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02" y="914400"/>
            <a:ext cx="7571996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Both markets earn ~4× Return on Account out-of-sample. TY's signal is slow and low-vol; BTC's is fast and high-vol — the same Channel WithDDControl framework calibrates to each market's autocorrelation structure via walk-forward optimisation.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TY — out-of-sample equity &amp; portfolio 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6" name="Picture 5" descr="slide_02_ty_equit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77" y="914400"/>
            <a:ext cx="8205046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Channel WithDDControl on TY (10-yr Treasury futures) over 1987-06 → 2026-03 — 155 quarterly walk-forward windows stitched, $100k initial equity. Net OOS profit $68 336 / Max DD $15 865 / Return on Account 4.31× / Sharpe 0.31 / 395 trades. Position panel shows long/short/flat state at bar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TY — Chekhlov drawdown family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6" name="Picture 5" descr="slide_03_ty_drawdown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87" y="914400"/>
            <a:ext cx="8897425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Top: % off running peak. Bottom: $ off running peak. Max DD ≈ 11% / $15.9k. CDD(α=0.05) ≈ $13.3k indicates the worst 5% of drawdown bars are concentrated near the max. Long underwater stretches are structural for a 1.5%/yr trend-following bond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TY — out-of-sample trade PnL distribution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6" name="Picture 5" descr="slide_04_ty_t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60" y="914400"/>
            <a:ext cx="9118879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Win rate 33% but average winner $1 265 vs average loser −$897 — classic right-skewed breakout payoff. Profit factor 0.70 because the system loses small and wins large; the assignment-mandated Net P / Max DD objective is what we optimise against (4.31×).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TY — most profitable OOS trade (autopsy)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6" name="Picture 5" descr="slide_05_ty_be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63" y="914400"/>
            <a:ext cx="8935074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21 Jan 2020 LONG 129.56 → 137.75 over 50 days (+$8 170). Channel breakout above the 1 920-bar high right as COVID drove a flight-to-safety bond rally. Trailing-equity stop fired after the initial impulse decayed — textbook trend payoff.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TY — worst OOS trade · why it got cooked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6" name="Picture 5" descr="slide_06_ty_wor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8001"/>
            <a:ext cx="6141720" cy="34019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90360" y="1005840"/>
            <a:ext cx="2849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22 Feb 2002 LONG @ 107.38 — broke above the 3 200-bar (~40-day) high.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Treasuries reversed almost immediately on hawkish-Fed signals at the late-Feb FOMC.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Price slid 2.93 pts in 12 days; trailing stop fired at $-2 952.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Classic 'breakout caught at the local top' before mean-reversion fired.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Wide L = 3 200 channel made the per-bar stop physically distant — loss compounded before exit.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The push–response diagnostic for short horizons is near zero; some breakouts get faded.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Source: Group 1 walk-forward (TF Data 5-min OHLC, $100k initial equity)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TY — walk-forward parameter stability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6" name="Picture 5" descr="slide_07_ty_param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94315"/>
            <a:ext cx="9174480" cy="4869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Channel length L converges to a tight cluster around 1 920 bars (≈ 24 trading days). Drawdown stop S almost always at 1% of running equity. Optimiser does not flip wildly — the chosen objective (Net Profit / Max Drawdown) is well-behaved on 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80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Same framework, faster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6E9EE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E6E9EE"/>
                </a:solidFill>
                <a:latin typeface="Calibri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BTC — out-of-sample equity &amp; portfolio 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6" name="Picture 5" descr="slide_02_btc_equit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77" y="914400"/>
            <a:ext cx="8205046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Channel WithDDControl on BTC (CME Bitcoin futures) over 2023-08 → 2026-02 — 7 quarterly OOS windows. Net OOS profit $536 397 / Max DD $131 729 / Return on Account 4.07× / Sharpe 3.01 / 1 094 trades. Equity grows from $100k to $636k driven by the 2024-25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BTC — Chekhlov drawdown family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6" name="Picture 5" descr="slide_03_btc_drawdown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64" y="914400"/>
            <a:ext cx="8973471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Max DD ≈ 22% / $131.7k. Recovery is fast — most underwater stretches are weeks, not months. CDD(α=0.05) ≈ $111.8k. Larger absolute dollar swings than TY, but realised vol is ~8× higher so the % drawdown footprint is comparable.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BTC — out-of-sample trade PnL distribution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6" name="Picture 5" descr="slide_04_btc_t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21860"/>
            <a:ext cx="9174480" cy="5014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Win rate 42% with average winner $4 327 vs average loser −$2 285 — same right-skew as TY but with a higher hit rate. Profit factor 1.37. The intraday push–response is positive at the right horizons, supporting the higher hit 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BTC — most profitable OOS trade (autopsy)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6" name="Picture 5" descr="slide_05_btc_be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26403"/>
            <a:ext cx="9174480" cy="50051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02 Mar 2025 LONG 85 720 → 94 748 in 25 minutes (+$45 115). Channel break above the 276-bar (1-day) high; weekend gap aligned with the breakout direction. $9 028 price move × $5 BTC point value − $25 round-turn slippage = +$45 115 in 5 bars.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BTC — worst OOS trade · why it got cooked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6" name="Picture 5" descr="slide_06_btc_wor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42360"/>
            <a:ext cx="6141720" cy="337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90360" y="1005840"/>
            <a:ext cx="2849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22 Aug 2025 SHORT @ 112 075 — broke below the 276-bar (1-day) low.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Within 90 minutes BTC pumped $2 115 (+1.9%) against the position.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Tight 1% drawdown stop fired at the second bar after the move ($114 190).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Channel breakout in BTC's mean-reverting 1-day regime — recurring failure mode.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The push–response diagram already flagged BTC as mean-reverting at the 1-day horizon (Spearman ρ = −0.38).</a:t>
            </a:r>
          </a:p>
          <a:p>
            <a:pPr algn="l"/>
            <a:r>
              <a:rPr sz="1100">
                <a:solidFill>
                  <a:srgbClr val="1B365D"/>
                </a:solidFill>
                <a:latin typeface="Calibri"/>
              </a:rPr>
              <a:t>•  The −$10 600 loss is ≈ 8% of the OOS Max DD — paid once to stay in the longer-horizon trend regime.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Source: Group 1 walk-forward (TF Data 5-min OHLC, $100k initial equity)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BTC — walk-forward parameter stability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6" name="Picture 5" descr="slide_07_btc_param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13572"/>
            <a:ext cx="9174480" cy="4830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BTC has only 7 quarterly OOS windows (the sample's IS warmup eats ~4 years from inception). Optimiser cycles between L = 276 (1 day) in choppy regimes and L = 1 104 (4 days) in the late-2025 trend phase. S* fixed at 1%. Instability is structural — BTC's regime is shifting.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In-sample vs out-of-sample decay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ROBUSTNESS</a:t>
            </a:r>
          </a:p>
        </p:txBody>
      </p:sp>
      <p:pic>
        <p:nvPicPr>
          <p:cNvPr id="6" name="Picture 5" descr="fig_is_oo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154"/>
            <a:ext cx="9174480" cy="4627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365D"/>
                </a:solidFill>
                <a:latin typeface="Calibri"/>
              </a:rPr>
              <a:t>Sharpe decay: TY 0.41 → 0.31 (-24%); BTC 4.52 → 3.01 (-33%). Profit-per-quarter decay: TY 26%, BTC 130% (BTC's IS objective favoured smaller L which truncated the most explosive late-2024 trends — sample-specific, not a forward claim). Quarterly OOS hit rate: TY 54.8% (85/155), BTC 100% (7/7).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80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2169"/>
                </a:solidFill>
                <a:latin typeface="Calibri"/>
              </a:rPr>
              <a:t>"Trend-following is real in both markets — but the usable horizon is market-specific."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A28D5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2169"/>
                </a:solidFill>
                <a:latin typeface="Calibri"/>
              </a:rPr>
              <a:t>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B365D"/>
                </a:solidFill>
                <a:latin typeface="Calibri"/>
              </a:rPr>
              <a:t>Variance-ratio test and push–response confirm trend-following at the multi-week horizon for TY (Spearman ρ ≈ 0.59 at 18 sessions) and at the multi-day horizon for BTC (ρ ≈ 0.67 at 12 days). Same statistical framework — different frequency bands.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A28D5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88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2169"/>
                </a:solidFill>
                <a:latin typeface="Calibri"/>
              </a:rPr>
              <a:t>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78892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B365D"/>
                </a:solidFill>
                <a:latin typeface="Calibri"/>
              </a:rPr>
              <a:t>Channel WithDDControl ported from main.m / ezread.m to Python (Numba JIT) and C++17. Walk-forward 4-yr IS / 1-Q OOS over the full ChnLen × StpPct grid, objective = Net Profit / Max Drawdown.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A28D5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2169"/>
                </a:solidFill>
                <a:latin typeface="Calibri"/>
              </a:rPr>
              <a:t>OOS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74904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B365D"/>
                </a:solidFill>
                <a:latin typeface="Calibri"/>
              </a:rPr>
              <a:t>TY: $68 336 net / 4.31× RoA / Sharpe 0.31 over 1987–2026 (155 quarters). BTC: $536 397 net / 4.07× RoA / Sharpe 3.01 over 2023–2026 (7 quarters). Both deliver ≈ 4× return-on-account with full slippage charged.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A28D5B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09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2169"/>
                </a:solidFill>
                <a:latin typeface="Calibri"/>
              </a:rPr>
              <a:t>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70916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B365D"/>
                </a:solidFill>
                <a:latin typeface="Calibri"/>
              </a:rPr>
              <a:t>Python ↔ C++ parity to float-64 on every metric and every closed trade. T × τ sweep confirms the assignment-prescribed (4 yr, 1 Q) is the well-behaved choice. 1-minute resolution earns marginally more (RoA 4.61×) but does not change the picture.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12169"/>
                </a:solidFill>
                <a:latin typeface="Calibri"/>
              </a:rPr>
              <a:t>Appendix — repository, parity table, key figures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28D5B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808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Repository: github.com/nl2992/MATH5360_Final_Project</a:t>
            </a:r>
          </a:p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Walk-forward Python artifacts: results/walkforward/{TY_5m, BTC_5m, TY_1m}/</a:t>
            </a:r>
          </a:p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C++ parity artifacts: results/cpp_parity/{TY, BTC}/</a:t>
            </a:r>
          </a:p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Diagnostics (VR + Push–Response cached tables): results/diagnostics/</a:t>
            </a:r>
          </a:p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Comprehensive write-up: report/FINAL_REPORT.md</a:t>
            </a:r>
          </a:p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Slide-companion narrative: report/presentation/demo.md</a:t>
            </a:r>
          </a:p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All figures regenerated by: python scripts/build_final_report_figures.py and scripts/build_presentation_figures.py</a:t>
            </a:r>
          </a:p>
          <a:p>
            <a:pPr algn="l"/>
            <a:r>
              <a:rPr sz="1200">
                <a:solidFill>
                  <a:srgbClr val="1B365D"/>
                </a:solidFill>
                <a:latin typeface="Calibri"/>
              </a:rPr>
              <a:t>•  Python ↔ C++ parity: every metric and every closed trade match to float-64 — see results/walkforward/python_cpp_fidelity_comparison.csv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1A9"/>
                </a:solidFill>
                <a:latin typeface="Calibri"/>
              </a:rPr>
              <a:t>Channel WithDDControl ported from main.m / ezread.m. Python core JIT-compiled with Numba; C++17 reference engine confirms parity to float-64.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A1A9"/>
                </a:solidFill>
                <a:latin typeface="Calibri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4630</TotalTime>
  <Words>9087</Words>
  <Application>Microsoft Macintosh PowerPoint</Application>
  <PresentationFormat>A4 Paper (210x297 mm)</PresentationFormat>
  <Paragraphs>2155</Paragraphs>
  <Slides>59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1" baseType="lpstr">
      <vt:lpstr>Calibri </vt:lpstr>
      <vt:lpstr>等线</vt:lpstr>
      <vt:lpstr>宋体</vt:lpstr>
      <vt:lpstr>Arial</vt:lpstr>
      <vt:lpstr>Calibri</vt:lpstr>
      <vt:lpstr>Cambria</vt:lpstr>
      <vt:lpstr>Tahoma</vt:lpstr>
      <vt:lpstr>Times New Roman</vt:lpstr>
      <vt:lpstr>Trebuchet MS</vt:lpstr>
      <vt:lpstr>Wingdings</vt:lpstr>
      <vt:lpstr>Office Theme</vt:lpstr>
      <vt:lpstr>think-cell Slide</vt:lpstr>
      <vt:lpstr>MATH GR 5360:  Trend-Following Across Markets</vt:lpstr>
      <vt:lpstr>PowerPoint Presentation</vt:lpstr>
      <vt:lpstr>10 year treasury note future(TY)</vt:lpstr>
      <vt:lpstr>10 year treasury note future(TY)</vt:lpstr>
      <vt:lpstr>PowerPoint Presentation</vt:lpstr>
      <vt:lpstr>PowerPoint Presentation</vt:lpstr>
      <vt:lpstr>Variance Ratio Test</vt:lpstr>
      <vt:lpstr>PowerPoint Presentation</vt:lpstr>
      <vt:lpstr>PowerPoint Presentation</vt:lpstr>
      <vt:lpstr>BTC future price</vt:lpstr>
      <vt:lpstr>BTC Future </vt:lpstr>
      <vt:lpstr>Central Thesis </vt:lpstr>
      <vt:lpstr>PowerPoint Presentation</vt:lpstr>
      <vt:lpstr>Evidence: Autocorrelation Structure</vt:lpstr>
      <vt:lpstr>Evidence: Variance Ratio Recovery</vt:lpstr>
      <vt:lpstr>PowerPoint Presentation</vt:lpstr>
      <vt:lpstr>PowerPoint Presentation</vt:lpstr>
      <vt:lpstr>PowerPoint Presentation</vt:lpstr>
      <vt:lpstr>PowerPoint Presentation</vt:lpstr>
      <vt:lpstr>Walk-Forward Out-of-Sample Results— TY</vt:lpstr>
      <vt:lpstr>PowerPoint Presentation</vt:lpstr>
      <vt:lpstr>Best v Worst Trade</vt:lpstr>
      <vt:lpstr>PowerPoint Presentation</vt:lpstr>
      <vt:lpstr>Walk-Forward Out-of-Sample Results— BTC</vt:lpstr>
      <vt:lpstr>Walk-Forward Out-of-Sample Results— BTC</vt:lpstr>
      <vt:lpstr>Best v Worst Trade</vt:lpstr>
      <vt:lpstr>OOS Equity Curve Growth of $1</vt:lpstr>
      <vt:lpstr>PowerPoint Presentation</vt:lpstr>
      <vt:lpstr>Fixed Income – Portfolio Rationale and Allocation</vt:lpstr>
      <vt:lpstr>Commodities – Portfolio Rationale and Allocation</vt:lpstr>
      <vt:lpstr>Foreign Exchange – Portfolio Rationale and Allocation</vt:lpstr>
      <vt:lpstr>Risk Management</vt:lpstr>
      <vt:lpstr>Appendix</vt:lpstr>
      <vt:lpstr>PowerPoint Presentation</vt:lpstr>
      <vt:lpstr>Recent Portfolio News and Forecasted Calendar Events</vt:lpstr>
      <vt:lpstr>Portfolio Entry and Exit</vt:lpstr>
      <vt:lpstr>Thesis 1: Emerging Markets Outperformance</vt:lpstr>
      <vt:lpstr>Thesis 2: Nearing the End of the Tightening Cycle</vt:lpstr>
      <vt:lpstr>Thesis 3: Recessionary Environment in Developed Markets</vt:lpstr>
      <vt:lpstr>Equities Trade 1: Chinese Equities (Relative Undervaluation)</vt:lpstr>
      <vt:lpstr>Equities Trade 1: Chinese Equities (Improving Macro Outlook)</vt:lpstr>
      <vt:lpstr>Equities Trade 2: Long Swiss Equities | A defensive, ‘safe haven’ nation with a positive outlook</vt:lpstr>
      <vt:lpstr>Equities Trade 2: Long Swiss Equities</vt:lpstr>
      <vt:lpstr>Equities Trade 3: Global Infrastructure</vt:lpstr>
      <vt:lpstr>Quantitative Tightening Concerns</vt:lpstr>
      <vt:lpstr>Fixed Income: Emerging Market Debt</vt:lpstr>
      <vt:lpstr>Commodity Trade 1: Short Lithium</vt:lpstr>
      <vt:lpstr>Commodity Trade 2: Long Oil</vt:lpstr>
      <vt:lpstr>Commodity Trade 1: Long Gold</vt:lpstr>
      <vt:lpstr>Foreign Exchange Trade: USD to Deteriorate</vt:lpstr>
      <vt:lpstr>Foreign Exchange Trade: EUR / USD to Appreciate</vt:lpstr>
      <vt:lpstr>Foreign Exchange Trade: AUD / USD to Appreciate</vt:lpstr>
      <vt:lpstr>Foreign Exchange Parity Conditions</vt:lpstr>
      <vt:lpstr>iShares MSCI China ETF</vt:lpstr>
      <vt:lpstr>iShares MSCI Switzerland ETF</vt:lpstr>
      <vt:lpstr>iShares Global Infrastructure ETF</vt:lpstr>
      <vt:lpstr>iShares J.P Morgan USD Emerging Markets Bond ETF</vt:lpstr>
      <vt:lpstr>iShares Short Treasury Bond ETF</vt:lpstr>
      <vt:lpstr>Correlation Matrix of Atlas Advisory Current Investment Suite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Brock</dc:creator>
  <cp:lastModifiedBy>永沛 李</cp:lastModifiedBy>
  <cp:revision>3</cp:revision>
  <dcterms:created xsi:type="dcterms:W3CDTF">2026-04-27T06:42:25Z</dcterms:created>
  <dcterms:modified xsi:type="dcterms:W3CDTF">2026-05-02T01:26:01Z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2023-05-03T00:00:00Z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2026-04-27T00:00:00Z</vt:filetime>
  </property>
  <property fmtid="{D5CDD505-2E9C-101B-9397-08002B2CF9AE}" pid="6" name="Producer">
    <vt:lpwstr>Microsoft® PowerPoint® for Microsoft 365</vt:lpwstr>
  </property>
</Properties>
</file>